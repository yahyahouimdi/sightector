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ce2753a-8035-1bf7-aad7-2e8092ea8d3c}">
          <p14:sldIdLst>
            <p14:sldId id="256"/>
            <p14:sldId id="257"/>
            <p14:sldId id="258"/>
          </p14:sldIdLst>
        </p14:section>
        <p14:section name="Method" id="{462f97e6-79fc-e9c4-1407-cd52e20f6378}">
          <p14:sldIdLst>
            <p14:sldId id="259"/>
            <p14:sldId id="260"/>
            <p14:sldId id="261"/>
            <p14:sldId id="262"/>
            <p14:sldId id="263"/>
            <p14:sldId id="264"/>
          </p14:sldIdLst>
        </p14:section>
        <p14:section name="Results" id="{828575d6-8e59-b517-15a9-0e22ad28a258}">
          <p14:sldIdLst>
            <p14:sldId id="265"/>
            <p14:sldId id="266"/>
            <p14:sldId id="267"/>
            <p14:sldId id="268"/>
          </p14:sldIdLst>
        </p14:section>
        <p14:section name="System" id="{04e8cf59-ff30-2c97-5e1b-d7d63dccec6c}">
          <p14:sldIdLst>
            <p14:sldId id="269"/>
            <p14:sldId id="270"/>
          </p14:sldIdLst>
        </p14:section>
        <p14:section name="Conclusion" id="{2075e87d-0210-b703-1065-fb329342f56e}">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547"/>
                </a:solidFill>
                <a:latin typeface="Calibri"/>
              </a:defRPr>
            </a:pPr>
            <a:r>
              <a:rPr sz="1300" b="0" i="0" u="none" strike="noStrike">
                <a:solidFill>
                  <a:srgbClr val="0C2547"/>
                </a:solidFill>
                <a:latin typeface="Calibri"/>
              </a:rPr>
              <a:t>Messages by source and class</a:t>
            </a:r>
          </a:p>
        </c:rich>
      </c:tx>
      <c:layout/>
      <c:overlay val="0"/>
    </c:title>
    <c:autoTitleDeleted val="0"/>
    <c:plotArea>
      <c:layout/>
      <c:barChart>
        <c:barDir val="bar"/>
        <c:grouping val="stacked"/>
        <c:varyColors val="0"/>
        <c:ser>
          <c:idx val="0"/>
          <c:order val="0"/>
          <c:tx>
            <c:strRef>
              <c:f>Sheet1!$B$1</c:f>
              <c:strCache>
                <c:ptCount val="1"/>
                <c:pt idx="0">
                  <c:v>Clean</c:v>
                </c:pt>
              </c:strCache>
            </c:strRef>
          </c:tx>
          <c:spPr>
            <a:solidFill>
              <a:srgbClr val="2A78D6"/>
            </a:solidFill>
            <a:effectLst/>
          </c:spPr>
          <c:invertIfNegative val="0"/>
          <c:dLbls>
            <c:numFmt formatCode="#,##0" sourceLinked="0"/>
            <c:txPr>
              <a:bodyPr/>
              <a:lstStyle/>
              <a:p>
                <a:pPr>
                  <a:defRPr b="0" i="0" strike="noStrike" sz="9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Sheet1!$A$2:$A$3</c:f>
              <c:multiLvlStrCache>
                <c:ptCount val="2"/>
                <c:lvl>
                  <c:pt idx="0">
                    <c:v>Original dataset</c:v>
                  </c:pt>
                  <c:pt idx="1">
                    <c:v>Civil Comments</c:v>
                  </c:pt>
                </c:lvl>
              </c:multiLvlStrCache>
            </c:multiLvlStrRef>
          </c:cat>
          <c:val>
            <c:numRef>
              <c:f>Sheet1!$B$2:$B$3</c:f>
              <c:numCache>
                <c:formatCode>General</c:formatCode>
                <c:ptCount val="2"/>
                <c:pt idx="0">
                  <c:v>6473</c:v>
                </c:pt>
                <c:pt idx="1">
                  <c:v>4494</c:v>
                </c:pt>
              </c:numCache>
            </c:numRef>
          </c:val>
        </c:ser>
        <c:ser>
          <c:idx val="1"/>
          <c:order val="1"/>
          <c:tx>
            <c:strRef>
              <c:f>Sheet1!$C$1</c:f>
              <c:strCache>
                <c:ptCount val="1"/>
                <c:pt idx="0">
                  <c:v>Harassment</c:v>
                </c:pt>
              </c:strCache>
            </c:strRef>
          </c:tx>
          <c:spPr>
            <a:solidFill>
              <a:srgbClr val="E34948"/>
            </a:solidFill>
            <a:effectLst/>
          </c:spPr>
          <c:invertIfNegative val="0"/>
          <c:dLbls>
            <c:numFmt formatCode="#,##0" sourceLinked="0"/>
            <c:txPr>
              <a:bodyPr/>
              <a:lstStyle/>
              <a:p>
                <a:pPr>
                  <a:defRPr b="0" i="0" strike="noStrike" sz="9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Sheet1!$A$2:$A$3</c:f>
              <c:multiLvlStrCache>
                <c:ptCount val="2"/>
                <c:lvl>
                  <c:pt idx="0">
                    <c:v>Original dataset</c:v>
                  </c:pt>
                  <c:pt idx="1">
                    <c:v>Civil Comments</c:v>
                  </c:pt>
                </c:lvl>
              </c:multiLvlStrCache>
            </c:multiLvlStrRef>
          </c:cat>
          <c:val>
            <c:numRef>
              <c:f>Sheet1!$C$2:$C$3</c:f>
              <c:numCache>
                <c:formatCode>General</c:formatCode>
                <c:ptCount val="2"/>
                <c:pt idx="0">
                  <c:v>9911</c:v>
                </c:pt>
                <c:pt idx="1">
                  <c:v>4955</c:v>
                </c:pt>
              </c:numCache>
            </c:numRef>
          </c:val>
        </c:ser>
        <c:dLbls>
          <c:numFmt formatCode="#,##0" sourceLinked="0"/>
          <c:txPr>
            <a:bodyPr/>
            <a:lstStyle/>
            <a:p>
              <a:pPr>
                <a:defRPr b="0" i="0" strike="noStrike" sz="900" u="none">
                  <a:solidFill>
                    <a:srgbClr val="FFFFFF"/>
                  </a:solidFill>
                  <a:latin typeface="Calibri"/>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2607A"/>
                </a:solidFill>
                <a:latin typeface="Calibri"/>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4E3D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2607A"/>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2607A"/>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547"/>
                </a:solidFill>
                <a:latin typeface="Calibri"/>
              </a:defRPr>
            </a:pPr>
            <a:r>
              <a:rPr sz="1300" b="0" i="0" u="none" strike="noStrike">
                <a:solidFill>
                  <a:srgbClr val="0C2547"/>
                </a:solidFill>
                <a:latin typeface="Calibri"/>
              </a:rPr>
              <a:t>Macro-F1</a:t>
            </a:r>
          </a:p>
        </c:rich>
      </c:tx>
      <c:layout/>
      <c:overlay val="0"/>
    </c:title>
    <c:autoTitleDeleted val="0"/>
    <c:plotArea>
      <c:layout/>
      <c:barChart>
        <c:barDir val="col"/>
        <c:grouping val="clustered"/>
        <c:varyColors val="0"/>
        <c:ser>
          <c:idx val="0"/>
          <c:order val="0"/>
          <c:tx>
            <c:strRef>
              <c:f>Sheet1!$B$1</c:f>
              <c:strCache>
                <c:ptCount val="1"/>
                <c:pt idx="0">
                  <c:v>Legacy v1</c:v>
                </c:pt>
              </c:strCache>
            </c:strRef>
          </c:tx>
          <c:spPr>
            <a:solidFill>
              <a:srgbClr val="9A9893"/>
            </a:solidFill>
            <a:effectLst/>
          </c:spPr>
          <c:invertIfNegative val="0"/>
          <c:dLbls>
            <c:numFmt formatCode="0.00" sourceLinked="0"/>
            <c:txPr>
              <a:bodyPr/>
              <a:lstStyle/>
              <a:p>
                <a:pPr>
                  <a:defRPr b="0" i="0" strike="noStrike" sz="900" u="none">
                    <a:solidFill>
                      <a:srgbClr val="52607A"/>
                    </a:solidFill>
                    <a:latin typeface="Calibri"/>
                  </a:defRPr>
                </a:pPr>
              </a:p>
            </c:txPr>
            <c:showLegendKey val="0"/>
            <c:showVal val="1"/>
            <c:showCatName val="0"/>
            <c:showSerName val="0"/>
            <c:showPercent val="0"/>
            <c:showBubbleSize val="0"/>
            <c:showLeaderLines val="0"/>
          </c:dLbls>
          <c:cat>
            <c:multiLvlStrRef>
              <c:f>Sheet1!$A$2:$A$4</c:f>
              <c:multiLvlStrCache>
                <c:ptCount val="3"/>
                <c:lvl>
                  <c:pt idx="0">
                    <c:v>Test</c:v>
                  </c:pt>
                  <c:pt idx="1">
                    <c:v>Obfuscated test</c:v>
                  </c:pt>
                  <c:pt idx="2">
                    <c:v>Challenge</c:v>
                  </c:pt>
                </c:lvl>
              </c:multiLvlStrCache>
            </c:multiLvlStrRef>
          </c:cat>
          <c:val>
            <c:numRef>
              <c:f>Sheet1!$B$2:$B$4</c:f>
              <c:numCache>
                <c:formatCode>General</c:formatCode>
                <c:ptCount val="3"/>
                <c:pt idx="0">
                  <c:v>0.832</c:v>
                </c:pt>
                <c:pt idx="1">
                  <c:v>0.707</c:v>
                </c:pt>
                <c:pt idx="2">
                  <c:v>0.625</c:v>
                </c:pt>
              </c:numCache>
            </c:numRef>
          </c:val>
        </c:ser>
        <c:ser>
          <c:idx val="1"/>
          <c:order val="1"/>
          <c:tx>
            <c:strRef>
              <c:f>Sheet1!$C$1</c:f>
              <c:strCache>
                <c:ptCount val="1"/>
                <c:pt idx="0">
                  <c:v>TF-IDF + LogReg</c:v>
                </c:pt>
              </c:strCache>
            </c:strRef>
          </c:tx>
          <c:spPr>
            <a:solidFill>
              <a:srgbClr val="2A78D6"/>
            </a:solidFill>
            <a:effectLst/>
          </c:spPr>
          <c:invertIfNegative val="0"/>
          <c:dLbls>
            <c:numFmt formatCode="0.00" sourceLinked="0"/>
            <c:txPr>
              <a:bodyPr/>
              <a:lstStyle/>
              <a:p>
                <a:pPr>
                  <a:defRPr b="0" i="0" strike="noStrike" sz="900" u="none">
                    <a:solidFill>
                      <a:srgbClr val="52607A"/>
                    </a:solidFill>
                    <a:latin typeface="Calibri"/>
                  </a:defRPr>
                </a:pPr>
              </a:p>
            </c:txPr>
            <c:showLegendKey val="0"/>
            <c:showVal val="1"/>
            <c:showCatName val="0"/>
            <c:showSerName val="0"/>
            <c:showPercent val="0"/>
            <c:showBubbleSize val="0"/>
            <c:showLeaderLines val="0"/>
          </c:dLbls>
          <c:cat>
            <c:multiLvlStrRef>
              <c:f>Sheet1!$A$2:$A$4</c:f>
              <c:multiLvlStrCache>
                <c:ptCount val="3"/>
                <c:lvl>
                  <c:pt idx="0">
                    <c:v>Test</c:v>
                  </c:pt>
                  <c:pt idx="1">
                    <c:v>Obfuscated test</c:v>
                  </c:pt>
                  <c:pt idx="2">
                    <c:v>Challenge</c:v>
                  </c:pt>
                </c:lvl>
              </c:multiLvlStrCache>
            </c:multiLvlStrRef>
          </c:cat>
          <c:val>
            <c:numRef>
              <c:f>Sheet1!$C$2:$C$4</c:f>
              <c:numCache>
                <c:formatCode>General</c:formatCode>
                <c:ptCount val="3"/>
                <c:pt idx="0">
                  <c:v>0.893</c:v>
                </c:pt>
                <c:pt idx="1">
                  <c:v>0.887</c:v>
                </c:pt>
                <c:pt idx="2">
                  <c:v>0.889</c:v>
                </c:pt>
              </c:numCache>
            </c:numRef>
          </c:val>
        </c:ser>
        <c:ser>
          <c:idx val="2"/>
          <c:order val="2"/>
          <c:tx>
            <c:strRef>
              <c:f>Sheet1!$D$1</c:f>
              <c:strCache>
                <c:ptCount val="1"/>
                <c:pt idx="0">
                  <c:v>BiLSTM + Attention</c:v>
                </c:pt>
              </c:strCache>
            </c:strRef>
          </c:tx>
          <c:spPr>
            <a:solidFill>
              <a:srgbClr val="EB6834"/>
            </a:solidFill>
            <a:effectLst/>
          </c:spPr>
          <c:invertIfNegative val="0"/>
          <c:dLbls>
            <c:numFmt formatCode="0.00" sourceLinked="0"/>
            <c:txPr>
              <a:bodyPr/>
              <a:lstStyle/>
              <a:p>
                <a:pPr>
                  <a:defRPr b="0" i="0" strike="noStrike" sz="900" u="none">
                    <a:solidFill>
                      <a:srgbClr val="52607A"/>
                    </a:solidFill>
                    <a:latin typeface="Calibri"/>
                  </a:defRPr>
                </a:pPr>
              </a:p>
            </c:txPr>
            <c:showLegendKey val="0"/>
            <c:showVal val="1"/>
            <c:showCatName val="0"/>
            <c:showSerName val="0"/>
            <c:showPercent val="0"/>
            <c:showBubbleSize val="0"/>
            <c:showLeaderLines val="0"/>
          </c:dLbls>
          <c:cat>
            <c:multiLvlStrRef>
              <c:f>Sheet1!$A$2:$A$4</c:f>
              <c:multiLvlStrCache>
                <c:ptCount val="3"/>
                <c:lvl>
                  <c:pt idx="0">
                    <c:v>Test</c:v>
                  </c:pt>
                  <c:pt idx="1">
                    <c:v>Obfuscated test</c:v>
                  </c:pt>
                  <c:pt idx="2">
                    <c:v>Challenge</c:v>
                  </c:pt>
                </c:lvl>
              </c:multiLvlStrCache>
            </c:multiLvlStrRef>
          </c:cat>
          <c:val>
            <c:numRef>
              <c:f>Sheet1!$D$2:$D$4</c:f>
              <c:numCache>
                <c:formatCode>General</c:formatCode>
                <c:ptCount val="3"/>
                <c:pt idx="0">
                  <c:v>0.892</c:v>
                </c:pt>
                <c:pt idx="1">
                  <c:v>0.88</c:v>
                </c:pt>
                <c:pt idx="2">
                  <c:v>0.905</c:v>
                </c:pt>
              </c:numCache>
            </c:numRef>
          </c:val>
        </c:ser>
        <c:ser>
          <c:idx val="3"/>
          <c:order val="3"/>
          <c:tx>
            <c:strRef>
              <c:f>Sheet1!$E$1</c:f>
              <c:strCache>
                <c:ptCount val="1"/>
                <c:pt idx="0">
                  <c:v>DistilRoBERTa</c:v>
                </c:pt>
              </c:strCache>
            </c:strRef>
          </c:tx>
          <c:spPr>
            <a:solidFill>
              <a:srgbClr val="1BAF7A"/>
            </a:solidFill>
            <a:effectLst/>
          </c:spPr>
          <c:invertIfNegative val="0"/>
          <c:dLbls>
            <c:numFmt formatCode="0.00" sourceLinked="0"/>
            <c:txPr>
              <a:bodyPr/>
              <a:lstStyle/>
              <a:p>
                <a:pPr>
                  <a:defRPr b="0" i="0" strike="noStrike" sz="900" u="none">
                    <a:solidFill>
                      <a:srgbClr val="52607A"/>
                    </a:solidFill>
                    <a:latin typeface="Calibri"/>
                  </a:defRPr>
                </a:pPr>
              </a:p>
            </c:txPr>
            <c:showLegendKey val="0"/>
            <c:showVal val="1"/>
            <c:showCatName val="0"/>
            <c:showSerName val="0"/>
            <c:showPercent val="0"/>
            <c:showBubbleSize val="0"/>
            <c:showLeaderLines val="0"/>
          </c:dLbls>
          <c:cat>
            <c:multiLvlStrRef>
              <c:f>Sheet1!$A$2:$A$4</c:f>
              <c:multiLvlStrCache>
                <c:ptCount val="3"/>
                <c:lvl>
                  <c:pt idx="0">
                    <c:v>Test</c:v>
                  </c:pt>
                  <c:pt idx="1">
                    <c:v>Obfuscated test</c:v>
                  </c:pt>
                  <c:pt idx="2">
                    <c:v>Challenge</c:v>
                  </c:pt>
                </c:lvl>
              </c:multiLvlStrCache>
            </c:multiLvlStrRef>
          </c:cat>
          <c:val>
            <c:numRef>
              <c:f>Sheet1!$E$2:$E$4</c:f>
              <c:numCache>
                <c:formatCode>General</c:formatCode>
                <c:ptCount val="3"/>
                <c:pt idx="0">
                  <c:v>0.924</c:v>
                </c:pt>
                <c:pt idx="1">
                  <c:v>0.912</c:v>
                </c:pt>
                <c:pt idx="2">
                  <c:v>0.908</c:v>
                </c:pt>
              </c:numCache>
            </c:numRef>
          </c:val>
        </c:ser>
        <c:dLbls>
          <c:numFmt formatCode="0.00" sourceLinked="0"/>
          <c:txPr>
            <a:bodyPr/>
            <a:lstStyle/>
            <a:p>
              <a:pPr>
                <a:defRPr b="0" i="0" strike="noStrike" sz="900" u="none">
                  <a:solidFill>
                    <a:srgbClr val="52607A"/>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2607A"/>
                </a:solidFill>
                <a:latin typeface="Calibri"/>
              </a:defRPr>
            </a:pPr>
            <a:endParaRPr lang="en-US"/>
          </a:p>
        </c:txPr>
        <c:crossAx val="2094734552"/>
        <c:crosses val="autoZero"/>
        <c:auto val="1"/>
        <c:lblAlgn val="ctr"/>
        <c:noMultiLvlLbl val="1"/>
      </c:catAx>
      <c:valAx>
        <c:axId val="2094734552"/>
        <c:scaling>
          <c:orientation val="minMax"/>
          <c:max val="1"/>
          <c:min val="0.5"/>
        </c:scaling>
        <c:delete val="0"/>
        <c:axPos val="l"/>
        <c:majorGridlines>
          <c:spPr>
            <a:ln w="6350" cap="flat">
              <a:solidFill>
                <a:srgbClr val="E4E3DF"/>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2607A"/>
                </a:solidFill>
                <a:latin typeface="Calibri"/>
              </a:defRPr>
            </a:pPr>
            <a:endParaRPr lang="en-US"/>
          </a:p>
        </c:txPr>
        <c:crossAx val="2094734554"/>
        <c:crosses val="autoZero"/>
        <c:crossBetween val="between"/>
        <c:majorUnit val="0.1"/>
      </c:valAx>
      <c:spPr>
        <a:noFill/>
        <a:ln>
          <a:noFill/>
        </a:ln>
        <a:effectLst/>
      </c:spPr>
    </c:plotArea>
    <c:legend>
      <c:legendPos val="b"/>
      <c:overlay val="0"/>
      <c:txPr>
        <a:bodyPr/>
        <a:lstStyle/>
        <a:p>
          <a:pPr>
            <a:defRPr sz="1100">
              <a:solidFill>
                <a:srgbClr val="52607A"/>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547"/>
                </a:solidFill>
                <a:latin typeface="Calibri"/>
              </a:defRPr>
            </a:pPr>
            <a:r>
              <a:rPr sz="1300" b="0" i="0" u="none" strike="noStrike">
                <a:solidFill>
                  <a:srgbClr val="0C2547"/>
                </a:solidFill>
                <a:latin typeface="Calibri"/>
              </a:rPr>
              <a:t>Macro-F1 (DistilRoBERTa)</a:t>
            </a:r>
          </a:p>
        </c:rich>
      </c:tx>
      <c:layout/>
      <c:overlay val="0"/>
    </c:title>
    <c:autoTitleDeleted val="0"/>
    <c:plotArea>
      <c:layout/>
      <c:barChart>
        <c:barDir val="bar"/>
        <c:grouping val="clustered"/>
        <c:varyColors val="0"/>
        <c:ser>
          <c:idx val="0"/>
          <c:order val="0"/>
          <c:tx>
            <c:strRef>
              <c:f>Sheet1!$B$1</c:f>
              <c:strCache>
                <c:ptCount val="1"/>
                <c:pt idx="0">
                  <c:v>Obfuscated test</c:v>
                </c:pt>
              </c:strCache>
            </c:strRef>
          </c:tx>
          <c:spPr>
            <a:solidFill>
              <a:srgbClr val="2A78D6"/>
            </a:solidFill>
            <a:effectLst/>
          </c:spPr>
          <c:invertIfNegative val="0"/>
          <c:dLbls>
            <c:numFmt formatCode="0.00" sourceLinked="0"/>
            <c:txPr>
              <a:bodyPr/>
              <a:lstStyle/>
              <a:p>
                <a:pPr>
                  <a:defRPr b="0" i="0" strike="noStrike" sz="900" u="none">
                    <a:solidFill>
                      <a:srgbClr val="52607A"/>
                    </a:solidFill>
                    <a:latin typeface="Calibri"/>
                  </a:defRPr>
                </a:pPr>
              </a:p>
            </c:txPr>
            <c:showLegendKey val="0"/>
            <c:showVal val="1"/>
            <c:showCatName val="0"/>
            <c:showSerName val="0"/>
            <c:showPercent val="0"/>
            <c:showBubbleSize val="0"/>
            <c:showLeaderLines val="0"/>
          </c:dLbls>
          <c:cat>
            <c:multiLvlStrRef>
              <c:f>Sheet1!$A$2:$A$5</c:f>
              <c:multiLvlStrCache>
                <c:ptCount val="4"/>
                <c:lvl>
                  <c:pt idx="0">
                    <c:v>raw input + no augmentation</c:v>
                  </c:pt>
                  <c:pt idx="1">
                    <c:v>normalizer + no augmentation</c:v>
                  </c:pt>
                  <c:pt idx="2">
                    <c:v>raw input + augmentation</c:v>
                  </c:pt>
                  <c:pt idx="3">
                    <c:v>normalizer + augmentation</c:v>
                  </c:pt>
                </c:lvl>
              </c:multiLvlStrCache>
            </c:multiLvlStrRef>
          </c:cat>
          <c:val>
            <c:numRef>
              <c:f>Sheet1!$B$2:$B$5</c:f>
              <c:numCache>
                <c:formatCode>General</c:formatCode>
                <c:ptCount val="4"/>
                <c:pt idx="0">
                  <c:v>0.87</c:v>
                </c:pt>
                <c:pt idx="1">
                  <c:v>0.918</c:v>
                </c:pt>
                <c:pt idx="2">
                  <c:v>0.812</c:v>
                </c:pt>
                <c:pt idx="3">
                  <c:v>0.912</c:v>
                </c:pt>
              </c:numCache>
            </c:numRef>
          </c:val>
        </c:ser>
        <c:ser>
          <c:idx val="1"/>
          <c:order val="1"/>
          <c:tx>
            <c:strRef>
              <c:f>Sheet1!$C$1</c:f>
              <c:strCache>
                <c:ptCount val="1"/>
                <c:pt idx="0">
                  <c:v>Challenge</c:v>
                </c:pt>
              </c:strCache>
            </c:strRef>
          </c:tx>
          <c:spPr>
            <a:solidFill>
              <a:srgbClr val="EB6834"/>
            </a:solidFill>
            <a:effectLst/>
          </c:spPr>
          <c:invertIfNegative val="0"/>
          <c:dLbls>
            <c:numFmt formatCode="0.00" sourceLinked="0"/>
            <c:txPr>
              <a:bodyPr/>
              <a:lstStyle/>
              <a:p>
                <a:pPr>
                  <a:defRPr b="0" i="0" strike="noStrike" sz="900" u="none">
                    <a:solidFill>
                      <a:srgbClr val="52607A"/>
                    </a:solidFill>
                    <a:latin typeface="Calibri"/>
                  </a:defRPr>
                </a:pPr>
              </a:p>
            </c:txPr>
            <c:showLegendKey val="0"/>
            <c:showVal val="1"/>
            <c:showCatName val="0"/>
            <c:showSerName val="0"/>
            <c:showPercent val="0"/>
            <c:showBubbleSize val="0"/>
            <c:showLeaderLines val="0"/>
          </c:dLbls>
          <c:cat>
            <c:multiLvlStrRef>
              <c:f>Sheet1!$A$2:$A$5</c:f>
              <c:multiLvlStrCache>
                <c:ptCount val="4"/>
                <c:lvl>
                  <c:pt idx="0">
                    <c:v>raw input + no augmentation</c:v>
                  </c:pt>
                  <c:pt idx="1">
                    <c:v>normalizer + no augmentation</c:v>
                  </c:pt>
                  <c:pt idx="2">
                    <c:v>raw input + augmentation</c:v>
                  </c:pt>
                  <c:pt idx="3">
                    <c:v>normalizer + augmentation</c:v>
                  </c:pt>
                </c:lvl>
              </c:multiLvlStrCache>
            </c:multiLvlStrRef>
          </c:cat>
          <c:val>
            <c:numRef>
              <c:f>Sheet1!$C$2:$C$5</c:f>
              <c:numCache>
                <c:formatCode>General</c:formatCode>
                <c:ptCount val="4"/>
                <c:pt idx="0">
                  <c:v>0.855</c:v>
                </c:pt>
                <c:pt idx="1">
                  <c:v>0.88</c:v>
                </c:pt>
                <c:pt idx="2">
                  <c:v>0.807</c:v>
                </c:pt>
                <c:pt idx="3">
                  <c:v>0.908</c:v>
                </c:pt>
              </c:numCache>
            </c:numRef>
          </c:val>
        </c:ser>
        <c:dLbls>
          <c:numFmt formatCode="0.00" sourceLinked="0"/>
          <c:txPr>
            <a:bodyPr/>
            <a:lstStyle/>
            <a:p>
              <a:pPr>
                <a:defRPr b="0" i="0" strike="noStrike" sz="900" u="none">
                  <a:solidFill>
                    <a:srgbClr val="52607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2607A"/>
                </a:solidFill>
                <a:latin typeface="Calibri"/>
              </a:defRPr>
            </a:pPr>
            <a:endParaRPr lang="en-US"/>
          </a:p>
        </c:txPr>
        <c:crossAx val="2094734552"/>
        <c:crosses val="autoZero"/>
        <c:auto val="1"/>
        <c:lblAlgn val="ctr"/>
        <c:noMultiLvlLbl val="1"/>
      </c:catAx>
      <c:valAx>
        <c:axId val="2094734552"/>
        <c:scaling>
          <c:orientation val="minMax"/>
          <c:max val="1"/>
          <c:min val="0.7"/>
        </c:scaling>
        <c:delete val="0"/>
        <c:axPos val="b"/>
        <c:majorGridlines>
          <c:spPr>
            <a:ln w="6350" cap="flat">
              <a:solidFill>
                <a:srgbClr val="E4E3DF"/>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1000" b="0" i="0" u="none" strike="noStrike">
                <a:solidFill>
                  <a:srgbClr val="52607A"/>
                </a:solidFill>
                <a:latin typeface="Calibri"/>
              </a:defRPr>
            </a:pPr>
            <a:endParaRPr lang="en-US"/>
          </a:p>
        </c:txPr>
        <c:crossAx val="2094734554"/>
        <c:crosses val="autoZero"/>
        <c:crossBetween val="between"/>
        <c:majorUnit val="0.1"/>
      </c:valAx>
      <c:spPr>
        <a:noFill/>
        <a:ln>
          <a:noFill/>
        </a:ln>
        <a:effectLst/>
      </c:spPr>
    </c:plotArea>
    <c:legend>
      <c:legendPos val="b"/>
      <c:overlay val="0"/>
      <c:txPr>
        <a:bodyPr/>
        <a:lstStyle/>
        <a:p>
          <a:pPr>
            <a:defRPr sz="1100">
              <a:solidFill>
                <a:srgbClr val="52607A"/>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Sightector is a browser extension that tells a user whether a text they read is harassment. This presentation covers why the first version failed, how we rebuilt it end-to-end with deep learning, and the measured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real tricks our users see. Version 1 missed most of them: the client reported that typing fu*ck or iiidiot was not detected.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read the v1 code before changing anything. Three defects, each enough on its own to explain the bad behaviour. The 97 percent accuracy in the notebook was an artefact of data leakage.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goes from raw data to evaluation. Every stage is a module of the sightector Python package and runs from one CLI.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 analysis of the first models showed almost no threats in the original Wikipedia data. We enriched it with 9.4k real annotated comments: threats, identity attacks, and hard negatives, i.e. clean comments that use words like kill or die harmlessly. Duplicates are removed after normalisation so F*CK YOU and fuck you can never sit on both sides of the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function runs at training and at inference. The key design choice is safety: a repair is only applied if the result is a known offensive term, so 4you, class or kill the process are left alone. The decision itself is always made by the neural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challenge set was written by hand and is independent of every dataset. We deliberately did not tune on it, so it remains an honest test of real-world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models implement the same predict_proba interface, so the API and evaluation never depend on a specific model. Self-attention lets the Transformer read each word in context: kill the process versus I will kill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Dashed lines are training loss, solid lines validation loss. The model quickly starts memorising mislabelled examples, so stopping early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numbers are measured on data never used for training or model selection. The axis starts at 0.5 to make the differences visible. The legacy model was re-run exactly as it was deployed, including the IDF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Precision matters for a tool people trust: on the challenge set DistilRoBERTa reaches 0.977 precision. The keyword-driven models flag kill the process; the Transformer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report the augmentation result honestly: it is not a clear win. The augmented copies are normalised before training, so most of the disguise is already removed. The deployed configuration was fixed before the experiment; choosing on the challenge set would turn it into a training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the errors one by one shows that many are labelling mistakes in the original dataset; the real error rate is lower than measured. The remaining genuine errors are semantic.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browser extension and the web dashboard call the same REST API. The detector is injected into the Flask app, which makes the API testable with a fake model in under a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run python -m server, open the dashboard, and try the example chips. Then load the unpacked extension, select text on any page and click Scan.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concrete root causes found and fixed, honest evaluation, and a deployable explainable system. Then open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C254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5669280" cy="109728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606040"/>
            <a:ext cx="5669280" cy="822960"/>
          </a:xfrm>
          <a:prstGeom prst="rect">
            <a:avLst/>
          </a:prstGeom>
          <a:noFill/>
          <a:ln/>
        </p:spPr>
        <p:txBody>
          <a:bodyPr wrap="square" rtlCol="0"/>
          <a:lstStyle>
            <a:lvl1pPr algn="l" indent="0" marL="0">
              <a:buNone/>
              <a:defRPr lang="en-US" sz="1800" dirty="0">
                <a:solidFill>
                  <a:srgbClr val="CADCFC"/>
                </a:solidFill>
                <a:latin typeface="Calibri" pitchFamily="34" charset="0"/>
                <a:ea typeface="Calibri" pitchFamily="34" charset="-122"/>
                <a:cs typeface="Calibri" pitchFamily="34" charset="-120"/>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LIST">
    <p:bg>
      <p:bgPr>
        <a:solidFill>
          <a:srgbClr val="0C254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8046720" cy="822960"/>
          </a:xfrm>
          <a:prstGeom prst="rect">
            <a:avLst/>
          </a:prstGeom>
          <a:noFill/>
          <a:ln/>
        </p:spPr>
        <p:txBody>
          <a:bodyPr wrap="square" rtlCol="0"/>
          <a:lstStyle>
            <a:lvl1pPr algn="l" indent="0" marL="0">
              <a:buNone/>
              <a:defRPr lang="en-US" sz="3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3" name="Text 0"/>
          <p:cNvSpPr/>
          <p:nvPr>
            <p:ph idx="101" type="body" hasCustomPrompt="1"/>
          </p:nvPr>
        </p:nvSpPr>
        <p:spPr>
          <a:xfrm>
            <a:off x="548640" y="1463040"/>
            <a:ext cx="8046720" cy="2377440"/>
          </a:xfrm>
          <a:prstGeom prst="rect">
            <a:avLst/>
          </a:prstGeom>
          <a:noFill/>
          <a:ln/>
        </p:spPr>
        <p:txBody>
          <a:bodyPr wrap="square" rtlCol="0"/>
          <a:lstStyle>
            <a:lvl1pPr algn="l" indent="0" marL="0">
              <a:buNone/>
              <a:defRPr lang="en-US" sz="1600" dirty="0">
                <a:solidFill>
                  <a:srgbClr val="CADCFC"/>
                </a:solidFill>
                <a:latin typeface="Calibri" pitchFamily="34" charset="0"/>
                <a:ea typeface="Calibri" pitchFamily="34" charset="-122"/>
                <a:cs typeface="Calibri" pitchFamily="34" charset="-120"/>
              </a:defRPr>
            </a:lvl1pPr>
          </a:lstStyle>
          <a:p>
            <a:pPr algn="l" indent="0" marL="0">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94360"/>
          </a:xfrm>
          <a:prstGeom prst="rect">
            <a:avLst/>
          </a:prstGeom>
          <a:noFill/>
          <a:ln/>
        </p:spPr>
        <p:txBody>
          <a:bodyPr wrap="square" rtlCol="0"/>
          <a:lstStyle>
            <a:lvl1pPr algn="l" indent="0" marL="0">
              <a:buNone/>
              <a:defRPr lang="en-US" sz="2800" b="1" dirty="0">
                <a:solidFill>
                  <a:srgbClr val="0C2547"/>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nvSpPr>
        <p:spPr>
          <a:xfrm>
            <a:off x="457200" y="4773168"/>
            <a:ext cx="5486400" cy="228600"/>
          </a:xfrm>
          <a:prstGeom prst="rect">
            <a:avLst/>
          </a:prstGeom>
          <a:noFill/>
          <a:ln/>
        </p:spPr>
        <p:txBody>
          <a:bodyPr wrap="square" rtlCol="0" anchor="ctr"/>
          <a:lstStyle/>
          <a:p>
            <a:pPr indent="0" marL="0">
              <a:buNone/>
            </a:pPr>
            <a:r>
              <a:rPr lang="en-US" sz="900" dirty="0">
                <a:solidFill>
                  <a:srgbClr val="52607A"/>
                </a:solidFill>
                <a:latin typeface="Calibri" pitchFamily="34" charset="0"/>
                <a:ea typeface="Calibri" pitchFamily="34" charset="-122"/>
                <a:cs typeface="Calibri" pitchFamily="34" charset="-120"/>
              </a:rPr>
              <a:t>Sightector v2 · IEEE ENIT SIGHT Group</a:t>
            </a:r>
            <a:endParaRPr lang="en-US" sz="9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2607A"/>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2607A"/>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4.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4.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descr="C:\Users\User\Documents\projects a faire\sightector\server\static\logo.png">    </p:cNvPr>
          <p:cNvPicPr>
            <a:picLocks noChangeAspect="1"/>
          </p:cNvPicPr>
          <p:nvPr/>
        </p:nvPicPr>
        <p:blipFill>
          <a:blip r:embed="rId1"/>
          <a:stretch>
            <a:fillRect/>
          </a:stretch>
        </p:blipFill>
        <p:spPr>
          <a:xfrm>
            <a:off x="6309360" y="228600"/>
            <a:ext cx="2560320" cy="2560320"/>
          </a:xfrm>
          <a:prstGeom prst="rect">
            <a:avLst/>
          </a:prstGeom>
        </p:spPr>
      </p:pic>
      <p:sp>
        <p:nvSpPr>
          <p:cNvPr id="3" name="Text 0"/>
          <p:cNvSpPr/>
          <p:nvPr>
            <p:ph idx="100" type="title" hasCustomPrompt="1"/>
          </p:nvPr>
        </p:nvSpPr>
        <p:spPr>
          <a:xfrm>
            <a:off x="548640" y="1417320"/>
            <a:ext cx="5669280" cy="1097280"/>
          </a:xfrm>
          <a:prstGeom prst="rect">
            <a:avLst/>
          </a:prstGeom>
          <a:noFill/>
          <a:ln/>
        </p:spPr>
        <p:txBody>
          <a:bodyPr wrap="square" rtlCol="0" anchor="b"/>
          <a:lstStyle/>
          <a:p>
            <a:pPr algn="l" indent="0" marL="0">
              <a:buNone/>
            </a:pPr>
            <a:r>
              <a:rPr lang="en-US" sz="4000" b="1" dirty="0">
                <a:solidFill>
                  <a:srgbClr val="FFFFFF"/>
                </a:solidFill>
                <a:latin typeface="Cambria" pitchFamily="34" charset="0"/>
                <a:ea typeface="Cambria" pitchFamily="34" charset="-122"/>
                <a:cs typeface="Cambria" pitchFamily="34" charset="-120"/>
              </a:rPr>
              <a:t>Sightector v2</a:t>
            </a:r>
            <a:endParaRPr lang="en-US" sz="4000" dirty="0"/>
          </a:p>
        </p:txBody>
      </p:sp>
      <p:sp>
        <p:nvSpPr>
          <p:cNvPr id="4" name="Text 0"/>
          <p:cNvSpPr/>
          <p:nvPr>
            <p:ph idx="101" type="body" hasCustomPrompt="1"/>
          </p:nvPr>
        </p:nvSpPr>
        <p:spPr>
          <a:xfrm>
            <a:off x="548640" y="2606040"/>
            <a:ext cx="5669280" cy="822960"/>
          </a:xfrm>
          <a:prstGeom prst="rect">
            <a:avLst/>
          </a:prstGeom>
          <a:noFill/>
          <a:ln/>
        </p:spPr>
        <p:txBody>
          <a:bodyPr wrap="square" rtlCol="0" anchor="t"/>
          <a:lstStyle/>
          <a:p>
            <a:pPr algn="l" indent="0" marL="0">
              <a:buNone/>
            </a:pPr>
            <a:r>
              <a:rPr lang="en-US" sz="1800" dirty="0">
                <a:solidFill>
                  <a:srgbClr val="CADCFC"/>
                </a:solidFill>
                <a:latin typeface="Calibri" pitchFamily="34" charset="0"/>
                <a:ea typeface="Calibri" pitchFamily="34" charset="-122"/>
                <a:cs typeface="Calibri" pitchFamily="34" charset="-120"/>
              </a:rPr>
              <a:t>Obfuscation-robust online harassment detection with deep learning</a:t>
            </a:r>
            <a:endParaRPr lang="en-US" sz="1800" dirty="0"/>
          </a:p>
        </p:txBody>
      </p:sp>
      <p:sp>
        <p:nvSpPr>
          <p:cNvPr id="5" name="Text 2"/>
          <p:cNvSpPr txBox="1"/>
          <p:nvPr/>
        </p:nvSpPr>
        <p:spPr>
          <a:xfrm>
            <a:off x="548640" y="4206240"/>
            <a:ext cx="8046720" cy="36576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Final-year engineering project · IEEE ENIT SIGHT Group · École Nationale d'Ingénieurs de Tunis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94360"/>
          </a:xfrm>
          <a:prstGeom prst="rect">
            <a:avLst/>
          </a:prstGeom>
          <a:noFill/>
          <a:ln/>
        </p:spPr>
        <p:txBody>
          <a:bodyPr wrap="square" lIns="0" tIns="0" rIns="0" bIns="0" rtlCol="0" anchor="ctr"/>
          <a:lstStyle/>
          <a:p>
            <a:pPr algn="l" indent="0" marL="0">
              <a:buNone/>
            </a:pPr>
            <a:r>
              <a:rPr lang="en-US" sz="2800" b="1" dirty="0">
                <a:solidFill>
                  <a:srgbClr val="0C2547"/>
                </a:solidFill>
                <a:latin typeface="Cambria" pitchFamily="34" charset="0"/>
                <a:ea typeface="Cambria" pitchFamily="34" charset="-122"/>
                <a:cs typeface="Cambria" pitchFamily="34" charset="-120"/>
              </a:rPr>
              <a:t>The problem: harassment hides behind spelling</a:t>
            </a:r>
            <a:endParaRPr lang="en-US" sz="2800" dirty="0"/>
          </a:p>
        </p:txBody>
      </p:sp>
      <p:sp>
        <p:nvSpPr>
          <p:cNvPr id="3" name="Text 1"/>
          <p:cNvSpPr txBox="1"/>
          <p:nvPr/>
        </p:nvSpPr>
        <p:spPr>
          <a:xfrm>
            <a:off x="457200" y="960120"/>
            <a:ext cx="8229600" cy="548640"/>
          </a:xfrm>
          <a:prstGeom prst="rect">
            <a:avLst/>
          </a:prstGeom>
          <a:noFill/>
          <a:ln/>
        </p:spPr>
        <p:txBody>
          <a:bodyPr wrap="square" lIns="0" tIns="0" rIns="0" bIns="0" rtlCol="0" anchor="t"/>
          <a:lstStyle/>
          <a:p>
            <a:pPr indent="0" marL="0">
              <a:buNone/>
            </a:pPr>
            <a:r>
              <a:rPr lang="en-US" sz="1500" dirty="0">
                <a:solidFill>
                  <a:srgbClr val="52607A"/>
                </a:solidFill>
                <a:latin typeface="Calibri" pitchFamily="34" charset="0"/>
                <a:ea typeface="Calibri" pitchFamily="34" charset="-122"/>
                <a:cs typeface="Calibri" pitchFamily="34" charset="-120"/>
              </a:rPr>
              <a:t>Harassers deliberately disguise words to slip past keyword filters. A word-level model sees only unknown tokens.</a:t>
            </a:r>
            <a:endParaRPr lang="en-US" sz="1500" dirty="0"/>
          </a:p>
        </p:txBody>
      </p:sp>
      <p:sp>
        <p:nvSpPr>
          <p:cNvPr id="4" name="trick-0"/>
          <p:cNvSpPr/>
          <p:nvPr/>
        </p:nvSpPr>
        <p:spPr>
          <a:xfrm>
            <a:off x="457200" y="1691640"/>
            <a:ext cx="2606040" cy="1143000"/>
          </a:xfrm>
          <a:prstGeom prst="roundRect">
            <a:avLst>
              <a:gd name="adj" fmla="val 9600"/>
            </a:avLst>
          </a:prstGeom>
          <a:solidFill>
            <a:srgbClr val="FDE8EC"/>
          </a:solidFill>
          <a:ln w="12700">
            <a:solidFill>
              <a:srgbClr val="FDE8EC"/>
            </a:solidFill>
            <a:prstDash val="solid"/>
          </a:ln>
        </p:spPr>
      </p:sp>
      <p:sp>
        <p:nvSpPr>
          <p:cNvPr id="5" name="Text 3"/>
          <p:cNvSpPr txBox="1"/>
          <p:nvPr/>
        </p:nvSpPr>
        <p:spPr>
          <a:xfrm>
            <a:off x="640080" y="1856232"/>
            <a:ext cx="2286000" cy="320040"/>
          </a:xfrm>
          <a:prstGeom prst="rect">
            <a:avLst/>
          </a:prstGeom>
          <a:noFill/>
          <a:ln/>
        </p:spPr>
        <p:txBody>
          <a:bodyPr wrap="square" lIns="0" tIns="0" rIns="0" bIns="0" rtlCol="0" anchor="t"/>
          <a:lstStyle/>
          <a:p>
            <a:pPr indent="0" marL="0">
              <a:buNone/>
            </a:pPr>
            <a:r>
              <a:rPr lang="en-US" sz="1300" b="1" dirty="0">
                <a:solidFill>
                  <a:srgbClr val="52607A"/>
                </a:solidFill>
                <a:latin typeface="Calibri" pitchFamily="34" charset="0"/>
                <a:ea typeface="Calibri" pitchFamily="34" charset="-122"/>
                <a:cs typeface="Calibri" pitchFamily="34" charset="-120"/>
              </a:rPr>
              <a:t>Masking</a:t>
            </a:r>
            <a:endParaRPr lang="en-US" sz="1300" dirty="0"/>
          </a:p>
        </p:txBody>
      </p:sp>
      <p:sp>
        <p:nvSpPr>
          <p:cNvPr id="6" name="Text 4"/>
          <p:cNvSpPr txBox="1"/>
          <p:nvPr/>
        </p:nvSpPr>
        <p:spPr>
          <a:xfrm>
            <a:off x="640080" y="2194560"/>
            <a:ext cx="2286000" cy="457200"/>
          </a:xfrm>
          <a:prstGeom prst="rect">
            <a:avLst/>
          </a:prstGeom>
          <a:noFill/>
          <a:ln/>
        </p:spPr>
        <p:txBody>
          <a:bodyPr wrap="square" lIns="0" tIns="0" rIns="0" bIns="0" rtlCol="0" anchor="t"/>
          <a:lstStyle/>
          <a:p>
            <a:pPr indent="0" marL="0">
              <a:buNone/>
            </a:pPr>
            <a:r>
              <a:rPr lang="en-US" sz="1800" b="1" dirty="0">
                <a:solidFill>
                  <a:srgbClr val="CC163F"/>
                </a:solidFill>
                <a:latin typeface="Consolas" pitchFamily="34" charset="0"/>
                <a:ea typeface="Consolas" pitchFamily="34" charset="-122"/>
                <a:cs typeface="Consolas" pitchFamily="34" charset="-120"/>
              </a:rPr>
              <a:t>f**k · b*tch</a:t>
            </a:r>
            <a:endParaRPr lang="en-US" sz="1800" dirty="0"/>
          </a:p>
        </p:txBody>
      </p:sp>
      <p:sp>
        <p:nvSpPr>
          <p:cNvPr id="7" name="trick-1"/>
          <p:cNvSpPr/>
          <p:nvPr/>
        </p:nvSpPr>
        <p:spPr>
          <a:xfrm>
            <a:off x="3246120" y="1691640"/>
            <a:ext cx="2606040" cy="1143000"/>
          </a:xfrm>
          <a:prstGeom prst="roundRect">
            <a:avLst>
              <a:gd name="adj" fmla="val 9600"/>
            </a:avLst>
          </a:prstGeom>
          <a:solidFill>
            <a:srgbClr val="EEF3F9"/>
          </a:solidFill>
          <a:ln w="12700">
            <a:solidFill>
              <a:srgbClr val="EEF3F9"/>
            </a:solidFill>
            <a:prstDash val="solid"/>
          </a:ln>
        </p:spPr>
      </p:sp>
      <p:sp>
        <p:nvSpPr>
          <p:cNvPr id="8" name="Text 6"/>
          <p:cNvSpPr txBox="1"/>
          <p:nvPr/>
        </p:nvSpPr>
        <p:spPr>
          <a:xfrm>
            <a:off x="3429000" y="1856232"/>
            <a:ext cx="2286000" cy="320040"/>
          </a:xfrm>
          <a:prstGeom prst="rect">
            <a:avLst/>
          </a:prstGeom>
          <a:noFill/>
          <a:ln/>
        </p:spPr>
        <p:txBody>
          <a:bodyPr wrap="square" lIns="0" tIns="0" rIns="0" bIns="0" rtlCol="0" anchor="t"/>
          <a:lstStyle/>
          <a:p>
            <a:pPr indent="0" marL="0">
              <a:buNone/>
            </a:pPr>
            <a:r>
              <a:rPr lang="en-US" sz="1300" b="1" dirty="0">
                <a:solidFill>
                  <a:srgbClr val="52607A"/>
                </a:solidFill>
                <a:latin typeface="Calibri" pitchFamily="34" charset="0"/>
                <a:ea typeface="Calibri" pitchFamily="34" charset="-122"/>
                <a:cs typeface="Calibri" pitchFamily="34" charset="-120"/>
              </a:rPr>
              <a:t>Inserted symbols</a:t>
            </a:r>
            <a:endParaRPr lang="en-US" sz="1300" dirty="0"/>
          </a:p>
        </p:txBody>
      </p:sp>
      <p:sp>
        <p:nvSpPr>
          <p:cNvPr id="9" name="Text 7"/>
          <p:cNvSpPr txBox="1"/>
          <p:nvPr/>
        </p:nvSpPr>
        <p:spPr>
          <a:xfrm>
            <a:off x="3429000" y="2194560"/>
            <a:ext cx="2286000" cy="457200"/>
          </a:xfrm>
          <a:prstGeom prst="rect">
            <a:avLst/>
          </a:prstGeom>
          <a:noFill/>
          <a:ln/>
        </p:spPr>
        <p:txBody>
          <a:bodyPr wrap="square" lIns="0" tIns="0" rIns="0" bIns="0" rtlCol="0" anchor="t"/>
          <a:lstStyle/>
          <a:p>
            <a:pPr indent="0" marL="0">
              <a:buNone/>
            </a:pPr>
            <a:r>
              <a:rPr lang="en-US" sz="1800" b="1" dirty="0">
                <a:solidFill>
                  <a:srgbClr val="CC163F"/>
                </a:solidFill>
                <a:latin typeface="Consolas" pitchFamily="34" charset="0"/>
                <a:ea typeface="Consolas" pitchFamily="34" charset="-122"/>
                <a:cs typeface="Consolas" pitchFamily="34" charset="-120"/>
              </a:rPr>
              <a:t>fu*ck · f-u-c-k</a:t>
            </a:r>
            <a:endParaRPr lang="en-US" sz="1800" dirty="0"/>
          </a:p>
        </p:txBody>
      </p:sp>
      <p:sp>
        <p:nvSpPr>
          <p:cNvPr id="10" name="trick-2"/>
          <p:cNvSpPr/>
          <p:nvPr/>
        </p:nvSpPr>
        <p:spPr>
          <a:xfrm>
            <a:off x="6035040" y="1691640"/>
            <a:ext cx="2606040" cy="1143000"/>
          </a:xfrm>
          <a:prstGeom prst="roundRect">
            <a:avLst>
              <a:gd name="adj" fmla="val 9600"/>
            </a:avLst>
          </a:prstGeom>
          <a:solidFill>
            <a:srgbClr val="FDE8EC"/>
          </a:solidFill>
          <a:ln w="12700">
            <a:solidFill>
              <a:srgbClr val="FDE8EC"/>
            </a:solidFill>
            <a:prstDash val="solid"/>
          </a:ln>
        </p:spPr>
      </p:sp>
      <p:sp>
        <p:nvSpPr>
          <p:cNvPr id="11" name="Text 9"/>
          <p:cNvSpPr txBox="1"/>
          <p:nvPr/>
        </p:nvSpPr>
        <p:spPr>
          <a:xfrm>
            <a:off x="6217920" y="1856232"/>
            <a:ext cx="2286000" cy="320040"/>
          </a:xfrm>
          <a:prstGeom prst="rect">
            <a:avLst/>
          </a:prstGeom>
          <a:noFill/>
          <a:ln/>
        </p:spPr>
        <p:txBody>
          <a:bodyPr wrap="square" lIns="0" tIns="0" rIns="0" bIns="0" rtlCol="0" anchor="t"/>
          <a:lstStyle/>
          <a:p>
            <a:pPr indent="0" marL="0">
              <a:buNone/>
            </a:pPr>
            <a:r>
              <a:rPr lang="en-US" sz="1300" b="1" dirty="0">
                <a:solidFill>
                  <a:srgbClr val="52607A"/>
                </a:solidFill>
                <a:latin typeface="Calibri" pitchFamily="34" charset="0"/>
                <a:ea typeface="Calibri" pitchFamily="34" charset="-122"/>
                <a:cs typeface="Calibri" pitchFamily="34" charset="-120"/>
              </a:rPr>
              <a:t>Leetspeak</a:t>
            </a:r>
            <a:endParaRPr lang="en-US" sz="1300" dirty="0"/>
          </a:p>
        </p:txBody>
      </p:sp>
      <p:sp>
        <p:nvSpPr>
          <p:cNvPr id="12" name="Text 10"/>
          <p:cNvSpPr txBox="1"/>
          <p:nvPr/>
        </p:nvSpPr>
        <p:spPr>
          <a:xfrm>
            <a:off x="6217920" y="2194560"/>
            <a:ext cx="2286000" cy="457200"/>
          </a:xfrm>
          <a:prstGeom prst="rect">
            <a:avLst/>
          </a:prstGeom>
          <a:noFill/>
          <a:ln/>
        </p:spPr>
        <p:txBody>
          <a:bodyPr wrap="square" lIns="0" tIns="0" rIns="0" bIns="0" rtlCol="0" anchor="t"/>
          <a:lstStyle/>
          <a:p>
            <a:pPr indent="0" marL="0">
              <a:buNone/>
            </a:pPr>
            <a:r>
              <a:rPr lang="en-US" sz="1800" b="1" dirty="0">
                <a:solidFill>
                  <a:srgbClr val="CC163F"/>
                </a:solidFill>
                <a:latin typeface="Consolas" pitchFamily="34" charset="0"/>
                <a:ea typeface="Consolas" pitchFamily="34" charset="-122"/>
                <a:cs typeface="Consolas" pitchFamily="34" charset="-120"/>
              </a:rPr>
              <a:t>1d10t · sh!t</a:t>
            </a:r>
            <a:endParaRPr lang="en-US" sz="1800" dirty="0"/>
          </a:p>
        </p:txBody>
      </p:sp>
      <p:sp>
        <p:nvSpPr>
          <p:cNvPr id="13" name="trick-3"/>
          <p:cNvSpPr/>
          <p:nvPr/>
        </p:nvSpPr>
        <p:spPr>
          <a:xfrm>
            <a:off x="457200" y="3063240"/>
            <a:ext cx="2606040" cy="1143000"/>
          </a:xfrm>
          <a:prstGeom prst="roundRect">
            <a:avLst>
              <a:gd name="adj" fmla="val 9600"/>
            </a:avLst>
          </a:prstGeom>
          <a:solidFill>
            <a:srgbClr val="EEF3F9"/>
          </a:solidFill>
          <a:ln w="12700">
            <a:solidFill>
              <a:srgbClr val="EEF3F9"/>
            </a:solidFill>
            <a:prstDash val="solid"/>
          </a:ln>
        </p:spPr>
      </p:sp>
      <p:sp>
        <p:nvSpPr>
          <p:cNvPr id="14" name="Text 12"/>
          <p:cNvSpPr txBox="1"/>
          <p:nvPr/>
        </p:nvSpPr>
        <p:spPr>
          <a:xfrm>
            <a:off x="640080" y="3227832"/>
            <a:ext cx="2286000" cy="320040"/>
          </a:xfrm>
          <a:prstGeom prst="rect">
            <a:avLst/>
          </a:prstGeom>
          <a:noFill/>
          <a:ln/>
        </p:spPr>
        <p:txBody>
          <a:bodyPr wrap="square" lIns="0" tIns="0" rIns="0" bIns="0" rtlCol="0" anchor="t"/>
          <a:lstStyle/>
          <a:p>
            <a:pPr indent="0" marL="0">
              <a:buNone/>
            </a:pPr>
            <a:r>
              <a:rPr lang="en-US" sz="1300" b="1" dirty="0">
                <a:solidFill>
                  <a:srgbClr val="52607A"/>
                </a:solidFill>
                <a:latin typeface="Calibri" pitchFamily="34" charset="0"/>
                <a:ea typeface="Calibri" pitchFamily="34" charset="-122"/>
                <a:cs typeface="Calibri" pitchFamily="34" charset="-120"/>
              </a:rPr>
              <a:t>Elongation</a:t>
            </a:r>
            <a:endParaRPr lang="en-US" sz="1300" dirty="0"/>
          </a:p>
        </p:txBody>
      </p:sp>
      <p:sp>
        <p:nvSpPr>
          <p:cNvPr id="15" name="Text 13"/>
          <p:cNvSpPr txBox="1"/>
          <p:nvPr/>
        </p:nvSpPr>
        <p:spPr>
          <a:xfrm>
            <a:off x="640080" y="3566160"/>
            <a:ext cx="2286000" cy="457200"/>
          </a:xfrm>
          <a:prstGeom prst="rect">
            <a:avLst/>
          </a:prstGeom>
          <a:noFill/>
          <a:ln/>
        </p:spPr>
        <p:txBody>
          <a:bodyPr wrap="square" lIns="0" tIns="0" rIns="0" bIns="0" rtlCol="0" anchor="t"/>
          <a:lstStyle/>
          <a:p>
            <a:pPr indent="0" marL="0">
              <a:buNone/>
            </a:pPr>
            <a:r>
              <a:rPr lang="en-US" sz="1800" b="1" dirty="0">
                <a:solidFill>
                  <a:srgbClr val="CC163F"/>
                </a:solidFill>
                <a:latin typeface="Consolas" pitchFamily="34" charset="0"/>
                <a:ea typeface="Consolas" pitchFamily="34" charset="-122"/>
                <a:cs typeface="Consolas" pitchFamily="34" charset="-120"/>
              </a:rPr>
              <a:t>iiidiot · stuuupid</a:t>
            </a:r>
            <a:endParaRPr lang="en-US" sz="1800" dirty="0"/>
          </a:p>
        </p:txBody>
      </p:sp>
      <p:sp>
        <p:nvSpPr>
          <p:cNvPr id="16" name="trick-4"/>
          <p:cNvSpPr/>
          <p:nvPr/>
        </p:nvSpPr>
        <p:spPr>
          <a:xfrm>
            <a:off x="3246120" y="3063240"/>
            <a:ext cx="2606040" cy="1143000"/>
          </a:xfrm>
          <a:prstGeom prst="roundRect">
            <a:avLst>
              <a:gd name="adj" fmla="val 9600"/>
            </a:avLst>
          </a:prstGeom>
          <a:solidFill>
            <a:srgbClr val="FDE8EC"/>
          </a:solidFill>
          <a:ln w="12700">
            <a:solidFill>
              <a:srgbClr val="FDE8EC"/>
            </a:solidFill>
            <a:prstDash val="solid"/>
          </a:ln>
        </p:spPr>
      </p:sp>
      <p:sp>
        <p:nvSpPr>
          <p:cNvPr id="17" name="Text 15"/>
          <p:cNvSpPr txBox="1"/>
          <p:nvPr/>
        </p:nvSpPr>
        <p:spPr>
          <a:xfrm>
            <a:off x="3429000" y="3227832"/>
            <a:ext cx="2286000" cy="320040"/>
          </a:xfrm>
          <a:prstGeom prst="rect">
            <a:avLst/>
          </a:prstGeom>
          <a:noFill/>
          <a:ln/>
        </p:spPr>
        <p:txBody>
          <a:bodyPr wrap="square" lIns="0" tIns="0" rIns="0" bIns="0" rtlCol="0" anchor="t"/>
          <a:lstStyle/>
          <a:p>
            <a:pPr indent="0" marL="0">
              <a:buNone/>
            </a:pPr>
            <a:r>
              <a:rPr lang="en-US" sz="1300" b="1" dirty="0">
                <a:solidFill>
                  <a:srgbClr val="52607A"/>
                </a:solidFill>
                <a:latin typeface="Calibri" pitchFamily="34" charset="0"/>
                <a:ea typeface="Calibri" pitchFamily="34" charset="-122"/>
                <a:cs typeface="Calibri" pitchFamily="34" charset="-120"/>
              </a:rPr>
              <a:t>Spacing</a:t>
            </a:r>
            <a:endParaRPr lang="en-US" sz="1300" dirty="0"/>
          </a:p>
        </p:txBody>
      </p:sp>
      <p:sp>
        <p:nvSpPr>
          <p:cNvPr id="18" name="Text 16"/>
          <p:cNvSpPr txBox="1"/>
          <p:nvPr/>
        </p:nvSpPr>
        <p:spPr>
          <a:xfrm>
            <a:off x="3429000" y="3566160"/>
            <a:ext cx="2286000" cy="457200"/>
          </a:xfrm>
          <a:prstGeom prst="rect">
            <a:avLst/>
          </a:prstGeom>
          <a:noFill/>
          <a:ln/>
        </p:spPr>
        <p:txBody>
          <a:bodyPr wrap="square" lIns="0" tIns="0" rIns="0" bIns="0" rtlCol="0" anchor="t"/>
          <a:lstStyle/>
          <a:p>
            <a:pPr indent="0" marL="0">
              <a:buNone/>
            </a:pPr>
            <a:r>
              <a:rPr lang="en-US" sz="1800" b="1" dirty="0">
                <a:solidFill>
                  <a:srgbClr val="CC163F"/>
                </a:solidFill>
                <a:latin typeface="Consolas" pitchFamily="34" charset="0"/>
                <a:ea typeface="Consolas" pitchFamily="34" charset="-122"/>
                <a:cs typeface="Consolas" pitchFamily="34" charset="-120"/>
              </a:rPr>
              <a:t>f u c k you</a:t>
            </a:r>
            <a:endParaRPr lang="en-US" sz="1800" dirty="0"/>
          </a:p>
        </p:txBody>
      </p:sp>
      <p:sp>
        <p:nvSpPr>
          <p:cNvPr id="19" name="trick-5"/>
          <p:cNvSpPr/>
          <p:nvPr/>
        </p:nvSpPr>
        <p:spPr>
          <a:xfrm>
            <a:off x="6035040" y="3063240"/>
            <a:ext cx="2606040" cy="1143000"/>
          </a:xfrm>
          <a:prstGeom prst="roundRect">
            <a:avLst>
              <a:gd name="adj" fmla="val 9600"/>
            </a:avLst>
          </a:prstGeom>
          <a:solidFill>
            <a:srgbClr val="EEF3F9"/>
          </a:solidFill>
          <a:ln w="12700">
            <a:solidFill>
              <a:srgbClr val="EEF3F9"/>
            </a:solidFill>
            <a:prstDash val="solid"/>
          </a:ln>
        </p:spPr>
      </p:sp>
      <p:sp>
        <p:nvSpPr>
          <p:cNvPr id="20" name="Text 18"/>
          <p:cNvSpPr txBox="1"/>
          <p:nvPr/>
        </p:nvSpPr>
        <p:spPr>
          <a:xfrm>
            <a:off x="6217920" y="3227832"/>
            <a:ext cx="2286000" cy="320040"/>
          </a:xfrm>
          <a:prstGeom prst="rect">
            <a:avLst/>
          </a:prstGeom>
          <a:noFill/>
          <a:ln/>
        </p:spPr>
        <p:txBody>
          <a:bodyPr wrap="square" lIns="0" tIns="0" rIns="0" bIns="0" rtlCol="0" anchor="t"/>
          <a:lstStyle/>
          <a:p>
            <a:pPr indent="0" marL="0">
              <a:buNone/>
            </a:pPr>
            <a:r>
              <a:rPr lang="en-US" sz="1300" b="1" dirty="0">
                <a:solidFill>
                  <a:srgbClr val="52607A"/>
                </a:solidFill>
                <a:latin typeface="Calibri" pitchFamily="34" charset="0"/>
                <a:ea typeface="Calibri" pitchFamily="34" charset="-122"/>
                <a:cs typeface="Calibri" pitchFamily="34" charset="-120"/>
              </a:rPr>
              <a:t>Look-alike letters</a:t>
            </a:r>
            <a:endParaRPr lang="en-US" sz="1300" dirty="0"/>
          </a:p>
        </p:txBody>
      </p:sp>
      <p:sp>
        <p:nvSpPr>
          <p:cNvPr id="21" name="Text 19"/>
          <p:cNvSpPr txBox="1"/>
          <p:nvPr/>
        </p:nvSpPr>
        <p:spPr>
          <a:xfrm>
            <a:off x="6217920" y="3566160"/>
            <a:ext cx="2286000" cy="457200"/>
          </a:xfrm>
          <a:prstGeom prst="rect">
            <a:avLst/>
          </a:prstGeom>
          <a:noFill/>
          <a:ln/>
        </p:spPr>
        <p:txBody>
          <a:bodyPr wrap="square" lIns="0" tIns="0" rIns="0" bIns="0" rtlCol="0" anchor="t"/>
          <a:lstStyle/>
          <a:p>
            <a:pPr indent="0" marL="0">
              <a:buNone/>
            </a:pPr>
            <a:r>
              <a:rPr lang="en-US" sz="1800" b="1" dirty="0">
                <a:solidFill>
                  <a:srgbClr val="CC163F"/>
                </a:solidFill>
                <a:latin typeface="Consolas" pitchFamily="34" charset="0"/>
                <a:ea typeface="Consolas" pitchFamily="34" charset="-122"/>
                <a:cs typeface="Consolas" pitchFamily="34" charset="-120"/>
              </a:rPr>
              <a:t>ѕtupid · іdiot</a:t>
            </a:r>
            <a:endParaRPr lang="en-US" sz="18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2607A"/>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94360"/>
          </a:xfrm>
          <a:prstGeom prst="rect">
            <a:avLst/>
          </a:prstGeom>
          <a:noFill/>
          <a:ln/>
        </p:spPr>
        <p:txBody>
          <a:bodyPr wrap="square" lIns="0" tIns="0" rIns="0" bIns="0" rtlCol="0" anchor="ctr"/>
          <a:lstStyle/>
          <a:p>
            <a:pPr algn="l" indent="0" marL="0">
              <a:buNone/>
            </a:pPr>
            <a:r>
              <a:rPr lang="en-US" sz="2800" b="1" dirty="0">
                <a:solidFill>
                  <a:srgbClr val="0C2547"/>
                </a:solidFill>
                <a:latin typeface="Cambria" pitchFamily="34" charset="0"/>
                <a:ea typeface="Cambria" pitchFamily="34" charset="-122"/>
                <a:cs typeface="Cambria" pitchFamily="34" charset="-120"/>
              </a:rPr>
              <a:t>Audit of v1: three root causes</a:t>
            </a:r>
            <a:endParaRPr lang="en-US" sz="2800" dirty="0"/>
          </a:p>
        </p:txBody>
      </p:sp>
      <p:sp>
        <p:nvSpPr>
          <p:cNvPr id="3" name="defect-0"/>
          <p:cNvSpPr/>
          <p:nvPr/>
        </p:nvSpPr>
        <p:spPr>
          <a:xfrm>
            <a:off x="457200" y="1051560"/>
            <a:ext cx="2606040" cy="2331720"/>
          </a:xfrm>
          <a:prstGeom prst="roundRect">
            <a:avLst>
              <a:gd name="adj" fmla="val 4706"/>
            </a:avLst>
          </a:prstGeom>
          <a:solidFill>
            <a:srgbClr val="EEF3F9"/>
          </a:solidFill>
          <a:ln w="12700">
            <a:solidFill>
              <a:srgbClr val="EEF3F9"/>
            </a:solidFill>
            <a:prstDash val="solid"/>
          </a:ln>
        </p:spPr>
      </p:sp>
      <p:pic>
        <p:nvPicPr>
          <p:cNvPr id="4" name="Image 0" descr="preencoded.png">    </p:cNvPr>
          <p:cNvPicPr>
            <a:picLocks noChangeAspect="1"/>
          </p:cNvPicPr>
          <p:nvPr/>
        </p:nvPicPr>
        <p:blipFill>
          <a:blip r:embed="rId1"/>
          <a:stretch>
            <a:fillRect/>
          </a:stretch>
        </p:blipFill>
        <p:spPr>
          <a:xfrm>
            <a:off x="685800" y="1261872"/>
            <a:ext cx="411480" cy="411480"/>
          </a:xfrm>
          <a:prstGeom prst="rect">
            <a:avLst/>
          </a:prstGeom>
        </p:spPr>
      </p:pic>
      <p:sp>
        <p:nvSpPr>
          <p:cNvPr id="5" name="Text 2"/>
          <p:cNvSpPr txBox="1"/>
          <p:nvPr/>
        </p:nvSpPr>
        <p:spPr>
          <a:xfrm>
            <a:off x="685800" y="1783080"/>
            <a:ext cx="2194560" cy="365760"/>
          </a:xfrm>
          <a:prstGeom prst="rect">
            <a:avLst/>
          </a:prstGeom>
          <a:noFill/>
          <a:ln/>
        </p:spPr>
        <p:txBody>
          <a:bodyPr wrap="square" lIns="0" tIns="0" rIns="0" bIns="0" rtlCol="0" anchor="t"/>
          <a:lstStyle/>
          <a:p>
            <a:pPr indent="0" marL="0">
              <a:buNone/>
            </a:pPr>
            <a:r>
              <a:rPr lang="en-US" sz="1600" b="1" dirty="0">
                <a:solidFill>
                  <a:srgbClr val="0C2547"/>
                </a:solidFill>
                <a:latin typeface="Calibri" pitchFamily="34" charset="0"/>
                <a:ea typeface="Calibri" pitchFamily="34" charset="-122"/>
                <a:cs typeface="Calibri" pitchFamily="34" charset="-120"/>
              </a:rPr>
              <a:t>Inference bug</a:t>
            </a:r>
            <a:endParaRPr lang="en-US" sz="1600" dirty="0"/>
          </a:p>
        </p:txBody>
      </p:sp>
      <p:sp>
        <p:nvSpPr>
          <p:cNvPr id="6" name="Text 3"/>
          <p:cNvSpPr txBox="1"/>
          <p:nvPr/>
        </p:nvSpPr>
        <p:spPr>
          <a:xfrm>
            <a:off x="685800" y="2176272"/>
            <a:ext cx="2194560" cy="1143000"/>
          </a:xfrm>
          <a:prstGeom prst="rect">
            <a:avLst/>
          </a:prstGeom>
          <a:noFill/>
          <a:ln/>
        </p:spPr>
        <p:txBody>
          <a:bodyPr wrap="square" lIns="0" tIns="0" rIns="0" bIns="0" rtlCol="0" anchor="t"/>
          <a:lstStyle/>
          <a:p>
            <a:pPr indent="0" marL="0">
              <a:buNone/>
            </a:pPr>
            <a:r>
              <a:rPr lang="en-US" sz="1250" dirty="0">
                <a:solidFill>
                  <a:srgbClr val="52607A"/>
                </a:solidFill>
                <a:latin typeface="Calibri" pitchFamily="34" charset="0"/>
                <a:ea typeface="Calibri" pitchFamily="34" charset="-122"/>
                <a:cs typeface="Calibri" pitchFamily="34" charset="-120"/>
              </a:rPr>
              <a:t>The server called fit_transform() on every message: the learned IDF weights were thrown away.</a:t>
            </a:r>
            <a:endParaRPr lang="en-US" sz="1250" dirty="0"/>
          </a:p>
        </p:txBody>
      </p:sp>
      <p:sp>
        <p:nvSpPr>
          <p:cNvPr id="7" name="defect-1"/>
          <p:cNvSpPr/>
          <p:nvPr/>
        </p:nvSpPr>
        <p:spPr>
          <a:xfrm>
            <a:off x="3246120" y="1051560"/>
            <a:ext cx="2606040" cy="2331720"/>
          </a:xfrm>
          <a:prstGeom prst="roundRect">
            <a:avLst>
              <a:gd name="adj" fmla="val 4706"/>
            </a:avLst>
          </a:prstGeom>
          <a:solidFill>
            <a:srgbClr val="EEF3F9"/>
          </a:solidFill>
          <a:ln w="12700">
            <a:solidFill>
              <a:srgbClr val="EEF3F9"/>
            </a:solidFill>
            <a:prstDash val="solid"/>
          </a:ln>
        </p:spPr>
      </p:sp>
      <p:pic>
        <p:nvPicPr>
          <p:cNvPr id="8" name="Image 1" descr="preencoded.png">    </p:cNvPr>
          <p:cNvPicPr>
            <a:picLocks noChangeAspect="1"/>
          </p:cNvPicPr>
          <p:nvPr/>
        </p:nvPicPr>
        <p:blipFill>
          <a:blip r:embed="rId2"/>
          <a:stretch>
            <a:fillRect/>
          </a:stretch>
        </p:blipFill>
        <p:spPr>
          <a:xfrm>
            <a:off x="3474720" y="1261872"/>
            <a:ext cx="411480" cy="411480"/>
          </a:xfrm>
          <a:prstGeom prst="rect">
            <a:avLst/>
          </a:prstGeom>
        </p:spPr>
      </p:pic>
      <p:sp>
        <p:nvSpPr>
          <p:cNvPr id="9" name="Text 5"/>
          <p:cNvSpPr txBox="1"/>
          <p:nvPr/>
        </p:nvSpPr>
        <p:spPr>
          <a:xfrm>
            <a:off x="3474720" y="1783080"/>
            <a:ext cx="2194560" cy="365760"/>
          </a:xfrm>
          <a:prstGeom prst="rect">
            <a:avLst/>
          </a:prstGeom>
          <a:noFill/>
          <a:ln/>
        </p:spPr>
        <p:txBody>
          <a:bodyPr wrap="square" lIns="0" tIns="0" rIns="0" bIns="0" rtlCol="0" anchor="t"/>
          <a:lstStyle/>
          <a:p>
            <a:pPr indent="0" marL="0">
              <a:buNone/>
            </a:pPr>
            <a:r>
              <a:rPr lang="en-US" sz="1600" b="1" dirty="0">
                <a:solidFill>
                  <a:srgbClr val="0C2547"/>
                </a:solidFill>
                <a:latin typeface="Calibri" pitchFamily="34" charset="0"/>
                <a:ea typeface="Calibri" pitchFamily="34" charset="-122"/>
                <a:cs typeface="Calibri" pitchFamily="34" charset="-120"/>
              </a:rPr>
              <a:t>Data leakage</a:t>
            </a:r>
            <a:endParaRPr lang="en-US" sz="1600" dirty="0"/>
          </a:p>
        </p:txBody>
      </p:sp>
      <p:sp>
        <p:nvSpPr>
          <p:cNvPr id="10" name="Text 6"/>
          <p:cNvSpPr txBox="1"/>
          <p:nvPr/>
        </p:nvSpPr>
        <p:spPr>
          <a:xfrm>
            <a:off x="3474720" y="2176272"/>
            <a:ext cx="2194560" cy="1143000"/>
          </a:xfrm>
          <a:prstGeom prst="rect">
            <a:avLst/>
          </a:prstGeom>
          <a:noFill/>
          <a:ln/>
        </p:spPr>
        <p:txBody>
          <a:bodyPr wrap="square" lIns="0" tIns="0" rIns="0" bIns="0" rtlCol="0" anchor="t"/>
          <a:lstStyle/>
          <a:p>
            <a:pPr indent="0" marL="0">
              <a:buNone/>
            </a:pPr>
            <a:r>
              <a:rPr lang="en-US" sz="1250" dirty="0">
                <a:solidFill>
                  <a:srgbClr val="52607A"/>
                </a:solidFill>
                <a:latin typeface="Calibri" pitchFamily="34" charset="0"/>
                <a:ea typeface="Calibri" pitchFamily="34" charset="-122"/>
                <a:cs typeface="Calibri" pitchFamily="34" charset="-120"/>
              </a:rPr>
              <a:t>pd.concat([df, df]) before the split: ~80 % of test rows were also in training. The reported 97 % was memorisation.</a:t>
            </a:r>
            <a:endParaRPr lang="en-US" sz="1250" dirty="0"/>
          </a:p>
        </p:txBody>
      </p:sp>
      <p:sp>
        <p:nvSpPr>
          <p:cNvPr id="11" name="defect-2"/>
          <p:cNvSpPr/>
          <p:nvPr/>
        </p:nvSpPr>
        <p:spPr>
          <a:xfrm>
            <a:off x="6035040" y="1051560"/>
            <a:ext cx="2606040" cy="2331720"/>
          </a:xfrm>
          <a:prstGeom prst="roundRect">
            <a:avLst>
              <a:gd name="adj" fmla="val 4706"/>
            </a:avLst>
          </a:prstGeom>
          <a:solidFill>
            <a:srgbClr val="EEF3F9"/>
          </a:solidFill>
          <a:ln w="12700">
            <a:solidFill>
              <a:srgbClr val="EEF3F9"/>
            </a:solidFill>
            <a:prstDash val="solid"/>
          </a:ln>
        </p:spPr>
      </p:sp>
      <p:pic>
        <p:nvPicPr>
          <p:cNvPr id="12" name="Image 2" descr="preencoded.png">    </p:cNvPr>
          <p:cNvPicPr>
            <a:picLocks noChangeAspect="1"/>
          </p:cNvPicPr>
          <p:nvPr/>
        </p:nvPicPr>
        <p:blipFill>
          <a:blip r:embed="rId3"/>
          <a:stretch>
            <a:fillRect/>
          </a:stretch>
        </p:blipFill>
        <p:spPr>
          <a:xfrm>
            <a:off x="6263640" y="1261872"/>
            <a:ext cx="411480" cy="411480"/>
          </a:xfrm>
          <a:prstGeom prst="rect">
            <a:avLst/>
          </a:prstGeom>
        </p:spPr>
      </p:pic>
      <p:sp>
        <p:nvSpPr>
          <p:cNvPr id="13" name="Text 8"/>
          <p:cNvSpPr txBox="1"/>
          <p:nvPr/>
        </p:nvSpPr>
        <p:spPr>
          <a:xfrm>
            <a:off x="6263640" y="1783080"/>
            <a:ext cx="2194560" cy="365760"/>
          </a:xfrm>
          <a:prstGeom prst="rect">
            <a:avLst/>
          </a:prstGeom>
          <a:noFill/>
          <a:ln/>
        </p:spPr>
        <p:txBody>
          <a:bodyPr wrap="square" lIns="0" tIns="0" rIns="0" bIns="0" rtlCol="0" anchor="t"/>
          <a:lstStyle/>
          <a:p>
            <a:pPr indent="0" marL="0">
              <a:buNone/>
            </a:pPr>
            <a:r>
              <a:rPr lang="en-US" sz="1600" b="1" dirty="0">
                <a:solidFill>
                  <a:srgbClr val="0C2547"/>
                </a:solidFill>
                <a:latin typeface="Calibri" pitchFamily="34" charset="0"/>
                <a:ea typeface="Calibri" pitchFamily="34" charset="-122"/>
                <a:cs typeface="Calibri" pitchFamily="34" charset="-120"/>
              </a:rPr>
              <a:t>Blind features</a:t>
            </a:r>
            <a:endParaRPr lang="en-US" sz="1600" dirty="0"/>
          </a:p>
        </p:txBody>
      </p:sp>
      <p:sp>
        <p:nvSpPr>
          <p:cNvPr id="14" name="Text 9"/>
          <p:cNvSpPr txBox="1"/>
          <p:nvPr/>
        </p:nvSpPr>
        <p:spPr>
          <a:xfrm>
            <a:off x="6263640" y="2176272"/>
            <a:ext cx="2194560" cy="1143000"/>
          </a:xfrm>
          <a:prstGeom prst="rect">
            <a:avLst/>
          </a:prstGeom>
          <a:noFill/>
          <a:ln/>
        </p:spPr>
        <p:txBody>
          <a:bodyPr wrap="square" lIns="0" tIns="0" rIns="0" bIns="0" rtlCol="0" anchor="t"/>
          <a:lstStyle/>
          <a:p>
            <a:pPr indent="0" marL="0">
              <a:buNone/>
            </a:pPr>
            <a:r>
              <a:rPr lang="en-US" sz="1250" dirty="0">
                <a:solidFill>
                  <a:srgbClr val="52607A"/>
                </a:solidFill>
                <a:latin typeface="Calibri" pitchFamily="34" charset="0"/>
                <a:ea typeface="Calibri" pitchFamily="34" charset="-122"/>
                <a:cs typeface="Calibri" pitchFamily="34" charset="-120"/>
              </a:rPr>
              <a:t>Word-only TF-IDF + a 1 081-word stop-list (it deleted words like "bad"). Disguised words became unknown tokens.</a:t>
            </a:r>
            <a:endParaRPr lang="en-US" sz="1250" dirty="0"/>
          </a:p>
        </p:txBody>
      </p:sp>
      <p:sp>
        <p:nvSpPr>
          <p:cNvPr id="15" name="Text 10"/>
          <p:cNvSpPr txBox="1"/>
          <p:nvPr/>
        </p:nvSpPr>
        <p:spPr>
          <a:xfrm>
            <a:off x="457200" y="3657600"/>
            <a:ext cx="8229600" cy="548640"/>
          </a:xfrm>
          <a:prstGeom prst="rect">
            <a:avLst/>
          </a:prstGeom>
          <a:noFill/>
          <a:ln/>
        </p:spPr>
        <p:txBody>
          <a:bodyPr wrap="square" lIns="0" tIns="0" rIns="0" bIns="0" rtlCol="0" anchor="t"/>
          <a:lstStyle/>
          <a:p>
            <a:pPr indent="0" marL="0">
              <a:buNone/>
            </a:pPr>
            <a:r>
              <a:rPr lang="en-US" sz="1600" dirty="0">
                <a:solidFill>
                  <a:srgbClr val="0C2547"/>
                </a:solidFill>
                <a:latin typeface="Calibri" pitchFamily="34" charset="0"/>
                <a:ea typeface="Calibri" pitchFamily="34" charset="-122"/>
                <a:cs typeface="Calibri" pitchFamily="34" charset="-120"/>
              </a:rPr>
              <a:t>Re-tested honestly, v1 scores </a:t>
            </a:r>
            <a:pPr indent="0" marL="0">
              <a:buNone/>
            </a:pPr>
            <a:r>
              <a:rPr lang="en-US" sz="1600" b="1" dirty="0">
                <a:solidFill>
                  <a:srgbClr val="CC163F"/>
                </a:solidFill>
                <a:latin typeface="Calibri" pitchFamily="34" charset="0"/>
                <a:ea typeface="Calibri" pitchFamily="34" charset="-122"/>
                <a:cs typeface="Calibri" pitchFamily="34" charset="-120"/>
              </a:rPr>
              <a:t>0.63 macro-F1</a:t>
            </a:r>
            <a:pPr indent="0" marL="0">
              <a:buNone/>
            </a:pPr>
            <a:r>
              <a:rPr lang="en-US" sz="1600" dirty="0">
                <a:solidFill>
                  <a:srgbClr val="0C2547"/>
                </a:solidFill>
                <a:latin typeface="Calibri" pitchFamily="34" charset="0"/>
                <a:ea typeface="Calibri" pitchFamily="34" charset="-122"/>
                <a:cs typeface="Calibri" pitchFamily="34" charset="-120"/>
              </a:rPr>
              <a:t> on our hand-written challenge set and recognises only </a:t>
            </a:r>
            <a:pPr indent="0" marL="0">
              <a:buNone/>
            </a:pPr>
            <a:r>
              <a:rPr lang="en-US" sz="1600" b="1" dirty="0">
                <a:solidFill>
                  <a:srgbClr val="CC163F"/>
                </a:solidFill>
                <a:latin typeface="Calibri" pitchFamily="34" charset="0"/>
                <a:ea typeface="Calibri" pitchFamily="34" charset="-122"/>
                <a:cs typeface="Calibri" pitchFamily="34" charset="-120"/>
              </a:rPr>
              <a:t>27 %</a:t>
            </a:r>
            <a:pPr indent="0" marL="0">
              <a:buNone/>
            </a:pPr>
            <a:r>
              <a:rPr lang="en-US" sz="1600" dirty="0">
                <a:solidFill>
                  <a:srgbClr val="0C2547"/>
                </a:solidFill>
                <a:latin typeface="Calibri" pitchFamily="34" charset="0"/>
                <a:ea typeface="Calibri" pitchFamily="34" charset="-122"/>
                <a:cs typeface="Calibri" pitchFamily="34" charset="-120"/>
              </a:rPr>
              <a:t> of obfuscated insults.</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2607A"/>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94360"/>
          </a:xfrm>
          <a:prstGeom prst="rect">
            <a:avLst/>
          </a:prstGeom>
          <a:noFill/>
          <a:ln/>
        </p:spPr>
        <p:txBody>
          <a:bodyPr wrap="square" lIns="0" tIns="0" rIns="0" bIns="0" rtlCol="0" anchor="ctr"/>
          <a:lstStyle/>
          <a:p>
            <a:pPr algn="l" indent="0" marL="0">
              <a:buNone/>
            </a:pPr>
            <a:r>
              <a:rPr lang="en-US" sz="2800" b="1" dirty="0">
                <a:solidFill>
                  <a:srgbClr val="0C2547"/>
                </a:solidFill>
                <a:latin typeface="Cambria" pitchFamily="34" charset="0"/>
                <a:ea typeface="Cambria" pitchFamily="34" charset="-122"/>
                <a:cs typeface="Cambria" pitchFamily="34" charset="-120"/>
              </a:rPr>
              <a:t>Our approach: an end-to-end pipeline</a:t>
            </a:r>
            <a:endParaRPr lang="en-US" sz="2800" dirty="0"/>
          </a:p>
        </p:txBody>
      </p:sp>
      <p:pic>
        <p:nvPicPr>
          <p:cNvPr id="3" name="Image 0" descr="C:\Users\User\Documents\projects a faire\sightector\docs\figures\pipeline.png">    </p:cNvPr>
          <p:cNvPicPr>
            <a:picLocks noChangeAspect="1"/>
          </p:cNvPicPr>
          <p:nvPr/>
        </p:nvPicPr>
        <p:blipFill>
          <a:blip r:embed="rId1"/>
          <a:stretch>
            <a:fillRect/>
          </a:stretch>
        </p:blipFill>
        <p:spPr>
          <a:xfrm>
            <a:off x="457200" y="1051560"/>
            <a:ext cx="8229600" cy="1709928"/>
          </a:xfrm>
          <a:prstGeom prst="rect">
            <a:avLst/>
          </a:prstGeom>
        </p:spPr>
      </p:pic>
      <p:sp>
        <p:nvSpPr>
          <p:cNvPr id="4" name="Text 1"/>
          <p:cNvSpPr txBox="1"/>
          <p:nvPr/>
        </p:nvSpPr>
        <p:spPr>
          <a:xfrm>
            <a:off x="457200" y="3063240"/>
            <a:ext cx="1920240" cy="320040"/>
          </a:xfrm>
          <a:prstGeom prst="rect">
            <a:avLst/>
          </a:prstGeom>
          <a:noFill/>
          <a:ln/>
        </p:spPr>
        <p:txBody>
          <a:bodyPr wrap="square" lIns="0" tIns="0" rIns="0" bIns="0" rtlCol="0" anchor="t"/>
          <a:lstStyle/>
          <a:p>
            <a:pPr indent="0" marL="0">
              <a:buNone/>
            </a:pPr>
            <a:r>
              <a:rPr lang="en-US" sz="1600" b="1" dirty="0">
                <a:solidFill>
                  <a:srgbClr val="0C6A9D"/>
                </a:solidFill>
                <a:latin typeface="Calibri" pitchFamily="34" charset="0"/>
                <a:ea typeface="Calibri" pitchFamily="34" charset="-122"/>
                <a:cs typeface="Calibri" pitchFamily="34" charset="-120"/>
              </a:rPr>
              <a:t>Clean</a:t>
            </a:r>
            <a:endParaRPr lang="en-US" sz="1600" dirty="0"/>
          </a:p>
        </p:txBody>
      </p:sp>
      <p:sp>
        <p:nvSpPr>
          <p:cNvPr id="5" name="Text 2"/>
          <p:cNvSpPr txBox="1"/>
          <p:nvPr/>
        </p:nvSpPr>
        <p:spPr>
          <a:xfrm>
            <a:off x="457200" y="3401568"/>
            <a:ext cx="1920240" cy="822960"/>
          </a:xfrm>
          <a:prstGeom prst="rect">
            <a:avLst/>
          </a:prstGeom>
          <a:noFill/>
          <a:ln/>
        </p:spPr>
        <p:txBody>
          <a:bodyPr wrap="square" lIns="0" tIns="0" rIns="0" bIns="0" rtlCol="0" anchor="t"/>
          <a:lstStyle/>
          <a:p>
            <a:pPr indent="0" marL="0">
              <a:buNone/>
            </a:pPr>
            <a:r>
              <a:rPr lang="en-US" sz="1250" dirty="0">
                <a:solidFill>
                  <a:srgbClr val="52607A"/>
                </a:solidFill>
                <a:latin typeface="Calibri" pitchFamily="34" charset="0"/>
                <a:ea typeface="Calibri" pitchFamily="34" charset="-122"/>
                <a:cs typeface="Calibri" pitchFamily="34" charset="-120"/>
              </a:rPr>
              <a:t>leakage-free data, enriched with real threats</a:t>
            </a:r>
            <a:endParaRPr lang="en-US" sz="1250" dirty="0"/>
          </a:p>
        </p:txBody>
      </p:sp>
      <p:sp>
        <p:nvSpPr>
          <p:cNvPr id="6" name="Text 3"/>
          <p:cNvSpPr txBox="1"/>
          <p:nvPr/>
        </p:nvSpPr>
        <p:spPr>
          <a:xfrm>
            <a:off x="2551176" y="3063240"/>
            <a:ext cx="1920240" cy="320040"/>
          </a:xfrm>
          <a:prstGeom prst="rect">
            <a:avLst/>
          </a:prstGeom>
          <a:noFill/>
          <a:ln/>
        </p:spPr>
        <p:txBody>
          <a:bodyPr wrap="square" lIns="0" tIns="0" rIns="0" bIns="0" rtlCol="0" anchor="t"/>
          <a:lstStyle/>
          <a:p>
            <a:pPr indent="0" marL="0">
              <a:buNone/>
            </a:pPr>
            <a:r>
              <a:rPr lang="en-US" sz="1600" b="1" dirty="0">
                <a:solidFill>
                  <a:srgbClr val="CC163F"/>
                </a:solidFill>
                <a:latin typeface="Calibri" pitchFamily="34" charset="0"/>
                <a:ea typeface="Calibri" pitchFamily="34" charset="-122"/>
                <a:cs typeface="Calibri" pitchFamily="34" charset="-120"/>
              </a:rPr>
              <a:t>Robust</a:t>
            </a:r>
            <a:endParaRPr lang="en-US" sz="1600" dirty="0"/>
          </a:p>
        </p:txBody>
      </p:sp>
      <p:sp>
        <p:nvSpPr>
          <p:cNvPr id="7" name="Text 4"/>
          <p:cNvSpPr txBox="1"/>
          <p:nvPr/>
        </p:nvSpPr>
        <p:spPr>
          <a:xfrm>
            <a:off x="2551176" y="3401568"/>
            <a:ext cx="1920240" cy="822960"/>
          </a:xfrm>
          <a:prstGeom prst="rect">
            <a:avLst/>
          </a:prstGeom>
          <a:noFill/>
          <a:ln/>
        </p:spPr>
        <p:txBody>
          <a:bodyPr wrap="square" lIns="0" tIns="0" rIns="0" bIns="0" rtlCol="0" anchor="t"/>
          <a:lstStyle/>
          <a:p>
            <a:pPr indent="0" marL="0">
              <a:buNone/>
            </a:pPr>
            <a:r>
              <a:rPr lang="en-US" sz="1250" dirty="0">
                <a:solidFill>
                  <a:srgbClr val="52607A"/>
                </a:solidFill>
                <a:latin typeface="Calibri" pitchFamily="34" charset="0"/>
                <a:ea typeface="Calibri" pitchFamily="34" charset="-122"/>
                <a:cs typeface="Calibri" pitchFamily="34" charset="-120"/>
              </a:rPr>
              <a:t>de-obfuscation + adversarial augmentation</a:t>
            </a:r>
            <a:endParaRPr lang="en-US" sz="1250" dirty="0"/>
          </a:p>
        </p:txBody>
      </p:sp>
      <p:sp>
        <p:nvSpPr>
          <p:cNvPr id="8" name="Text 5"/>
          <p:cNvSpPr txBox="1"/>
          <p:nvPr/>
        </p:nvSpPr>
        <p:spPr>
          <a:xfrm>
            <a:off x="4645152" y="3063240"/>
            <a:ext cx="1920240" cy="320040"/>
          </a:xfrm>
          <a:prstGeom prst="rect">
            <a:avLst/>
          </a:prstGeom>
          <a:noFill/>
          <a:ln/>
        </p:spPr>
        <p:txBody>
          <a:bodyPr wrap="square" lIns="0" tIns="0" rIns="0" bIns="0" rtlCol="0" anchor="t"/>
          <a:lstStyle/>
          <a:p>
            <a:pPr indent="0" marL="0">
              <a:buNone/>
            </a:pPr>
            <a:r>
              <a:rPr lang="en-US" sz="1600" b="1" dirty="0">
                <a:solidFill>
                  <a:srgbClr val="0C6A9D"/>
                </a:solidFill>
                <a:latin typeface="Calibri" pitchFamily="34" charset="0"/>
                <a:ea typeface="Calibri" pitchFamily="34" charset="-122"/>
                <a:cs typeface="Calibri" pitchFamily="34" charset="-120"/>
              </a:rPr>
              <a:t>Deep</a:t>
            </a:r>
            <a:endParaRPr lang="en-US" sz="1600" dirty="0"/>
          </a:p>
        </p:txBody>
      </p:sp>
      <p:sp>
        <p:nvSpPr>
          <p:cNvPr id="9" name="Text 6"/>
          <p:cNvSpPr txBox="1"/>
          <p:nvPr/>
        </p:nvSpPr>
        <p:spPr>
          <a:xfrm>
            <a:off x="4645152" y="3401568"/>
            <a:ext cx="1920240" cy="822960"/>
          </a:xfrm>
          <a:prstGeom prst="rect">
            <a:avLst/>
          </a:prstGeom>
          <a:noFill/>
          <a:ln/>
        </p:spPr>
        <p:txBody>
          <a:bodyPr wrap="square" lIns="0" tIns="0" rIns="0" bIns="0" rtlCol="0" anchor="t"/>
          <a:lstStyle/>
          <a:p>
            <a:pPr indent="0" marL="0">
              <a:buNone/>
            </a:pPr>
            <a:r>
              <a:rPr lang="en-US" sz="1250" dirty="0">
                <a:solidFill>
                  <a:srgbClr val="52607A"/>
                </a:solidFill>
                <a:latin typeface="Calibri" pitchFamily="34" charset="0"/>
                <a:ea typeface="Calibri" pitchFamily="34" charset="-122"/>
                <a:cs typeface="Calibri" pitchFamily="34" charset="-120"/>
              </a:rPr>
              <a:t>BiLSTM and a fine-tuned Transformer vs a strong baseline</a:t>
            </a:r>
            <a:endParaRPr lang="en-US" sz="1250" dirty="0"/>
          </a:p>
        </p:txBody>
      </p:sp>
      <p:sp>
        <p:nvSpPr>
          <p:cNvPr id="10" name="Text 7"/>
          <p:cNvSpPr txBox="1"/>
          <p:nvPr/>
        </p:nvSpPr>
        <p:spPr>
          <a:xfrm>
            <a:off x="6739128" y="3063240"/>
            <a:ext cx="1920240" cy="320040"/>
          </a:xfrm>
          <a:prstGeom prst="rect">
            <a:avLst/>
          </a:prstGeom>
          <a:noFill/>
          <a:ln/>
        </p:spPr>
        <p:txBody>
          <a:bodyPr wrap="square" lIns="0" tIns="0" rIns="0" bIns="0" rtlCol="0" anchor="t"/>
          <a:lstStyle/>
          <a:p>
            <a:pPr indent="0" marL="0">
              <a:buNone/>
            </a:pPr>
            <a:r>
              <a:rPr lang="en-US" sz="1600" b="1" dirty="0">
                <a:solidFill>
                  <a:srgbClr val="CC163F"/>
                </a:solidFill>
                <a:latin typeface="Calibri" pitchFamily="34" charset="0"/>
                <a:ea typeface="Calibri" pitchFamily="34" charset="-122"/>
                <a:cs typeface="Calibri" pitchFamily="34" charset="-120"/>
              </a:rPr>
              <a:t>Explainable</a:t>
            </a:r>
            <a:endParaRPr lang="en-US" sz="1600" dirty="0"/>
          </a:p>
        </p:txBody>
      </p:sp>
      <p:sp>
        <p:nvSpPr>
          <p:cNvPr id="11" name="Text 8"/>
          <p:cNvSpPr txBox="1"/>
          <p:nvPr/>
        </p:nvSpPr>
        <p:spPr>
          <a:xfrm>
            <a:off x="6739128" y="3401568"/>
            <a:ext cx="1920240" cy="822960"/>
          </a:xfrm>
          <a:prstGeom prst="rect">
            <a:avLst/>
          </a:prstGeom>
          <a:noFill/>
          <a:ln/>
        </p:spPr>
        <p:txBody>
          <a:bodyPr wrap="square" lIns="0" tIns="0" rIns="0" bIns="0" rtlCol="0" anchor="t"/>
          <a:lstStyle/>
          <a:p>
            <a:pPr indent="0" marL="0">
              <a:buNone/>
            </a:pPr>
            <a:r>
              <a:rPr lang="en-US" sz="1250" dirty="0">
                <a:solidFill>
                  <a:srgbClr val="52607A"/>
                </a:solidFill>
                <a:latin typeface="Calibri" pitchFamily="34" charset="0"/>
                <a:ea typeface="Calibri" pitchFamily="34" charset="-122"/>
                <a:cs typeface="Calibri" pitchFamily="34" charset="-120"/>
              </a:rPr>
              <a:t>severity + the words behind each decision</a:t>
            </a:r>
            <a:endParaRPr lang="en-US" sz="125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2607A"/>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94360"/>
          </a:xfrm>
          <a:prstGeom prst="rect">
            <a:avLst/>
          </a:prstGeom>
          <a:noFill/>
          <a:ln/>
        </p:spPr>
        <p:txBody>
          <a:bodyPr wrap="square" lIns="0" tIns="0" rIns="0" bIns="0" rtlCol="0" anchor="ctr"/>
          <a:lstStyle/>
          <a:p>
            <a:pPr algn="l" indent="0" marL="0">
              <a:buNone/>
            </a:pPr>
            <a:r>
              <a:rPr lang="en-US" sz="2800" b="1" dirty="0">
                <a:solidFill>
                  <a:srgbClr val="0C2547"/>
                </a:solidFill>
                <a:latin typeface="Cambria" pitchFamily="34" charset="0"/>
                <a:ea typeface="Cambria" pitchFamily="34" charset="-122"/>
                <a:cs typeface="Cambria" pitchFamily="34" charset="-120"/>
              </a:rPr>
              <a:t>Data: cleaned, de-duplicated and enriched</a:t>
            </a:r>
            <a:endParaRPr lang="en-US" sz="2800" dirty="0"/>
          </a:p>
        </p:txBody>
      </p:sp>
      <p:sp>
        <p:nvSpPr>
          <p:cNvPr id="3" name="Text 1"/>
          <p:cNvSpPr txBox="1"/>
          <p:nvPr/>
        </p:nvSpPr>
        <p:spPr>
          <a:xfrm>
            <a:off x="457200" y="1051560"/>
            <a:ext cx="2011680" cy="502920"/>
          </a:xfrm>
          <a:prstGeom prst="rect">
            <a:avLst/>
          </a:prstGeom>
          <a:noFill/>
          <a:ln/>
        </p:spPr>
        <p:txBody>
          <a:bodyPr wrap="square" lIns="0" tIns="0" rIns="0" bIns="0" rtlCol="0" anchor="t"/>
          <a:lstStyle/>
          <a:p>
            <a:pPr indent="0" marL="0">
              <a:buNone/>
            </a:pPr>
            <a:r>
              <a:rPr lang="en-US" sz="3000" b="1" dirty="0">
                <a:solidFill>
                  <a:srgbClr val="0C6A9D"/>
                </a:solidFill>
                <a:latin typeface="Cambria" pitchFamily="34" charset="0"/>
                <a:ea typeface="Cambria" pitchFamily="34" charset="-122"/>
                <a:cs typeface="Cambria" pitchFamily="34" charset="-120"/>
              </a:rPr>
              <a:t>25,833</a:t>
            </a:r>
            <a:endParaRPr lang="en-US" sz="3000" dirty="0"/>
          </a:p>
        </p:txBody>
      </p:sp>
      <p:sp>
        <p:nvSpPr>
          <p:cNvPr id="4" name="Text 2"/>
          <p:cNvSpPr txBox="1"/>
          <p:nvPr/>
        </p:nvSpPr>
        <p:spPr>
          <a:xfrm>
            <a:off x="2514600" y="1161288"/>
            <a:ext cx="2194560" cy="457200"/>
          </a:xfrm>
          <a:prstGeom prst="rect">
            <a:avLst/>
          </a:prstGeom>
          <a:noFill/>
          <a:ln/>
        </p:spPr>
        <p:txBody>
          <a:bodyPr wrap="square" lIns="0" tIns="0" rIns="0" bIns="0" rtlCol="0" anchor="t"/>
          <a:lstStyle/>
          <a:p>
            <a:pPr indent="0" marL="0">
              <a:buNone/>
            </a:pPr>
            <a:r>
              <a:rPr lang="en-US" sz="1300" dirty="0">
                <a:solidFill>
                  <a:srgbClr val="52607A"/>
                </a:solidFill>
                <a:latin typeface="Calibri" pitchFamily="34" charset="0"/>
                <a:ea typeface="Calibri" pitchFamily="34" charset="-122"/>
                <a:cs typeface="Calibri" pitchFamily="34" charset="-120"/>
              </a:rPr>
              <a:t>messages after cleaning</a:t>
            </a:r>
            <a:endParaRPr lang="en-US" sz="1300" dirty="0"/>
          </a:p>
        </p:txBody>
      </p:sp>
      <p:sp>
        <p:nvSpPr>
          <p:cNvPr id="5" name="Text 3"/>
          <p:cNvSpPr txBox="1"/>
          <p:nvPr/>
        </p:nvSpPr>
        <p:spPr>
          <a:xfrm>
            <a:off x="457200" y="1920240"/>
            <a:ext cx="2011680" cy="502920"/>
          </a:xfrm>
          <a:prstGeom prst="rect">
            <a:avLst/>
          </a:prstGeom>
          <a:noFill/>
          <a:ln/>
        </p:spPr>
        <p:txBody>
          <a:bodyPr wrap="square" lIns="0" tIns="0" rIns="0" bIns="0" rtlCol="0" anchor="t"/>
          <a:lstStyle/>
          <a:p>
            <a:pPr indent="0" marL="0">
              <a:buNone/>
            </a:pPr>
            <a:r>
              <a:rPr lang="en-US" sz="3000" b="1" dirty="0">
                <a:solidFill>
                  <a:srgbClr val="CC163F"/>
                </a:solidFill>
                <a:latin typeface="Cambria" pitchFamily="34" charset="0"/>
                <a:ea typeface="Cambria" pitchFamily="34" charset="-122"/>
                <a:cs typeface="Cambria" pitchFamily="34" charset="-120"/>
              </a:rPr>
              <a:t>9,449</a:t>
            </a:r>
            <a:endParaRPr lang="en-US" sz="3000" dirty="0"/>
          </a:p>
        </p:txBody>
      </p:sp>
      <p:sp>
        <p:nvSpPr>
          <p:cNvPr id="6" name="Text 4"/>
          <p:cNvSpPr txBox="1"/>
          <p:nvPr/>
        </p:nvSpPr>
        <p:spPr>
          <a:xfrm>
            <a:off x="2514600" y="2029968"/>
            <a:ext cx="2194560" cy="457200"/>
          </a:xfrm>
          <a:prstGeom prst="rect">
            <a:avLst/>
          </a:prstGeom>
          <a:noFill/>
          <a:ln/>
        </p:spPr>
        <p:txBody>
          <a:bodyPr wrap="square" lIns="0" tIns="0" rIns="0" bIns="0" rtlCol="0" anchor="t"/>
          <a:lstStyle/>
          <a:p>
            <a:pPr indent="0" marL="0">
              <a:buNone/>
            </a:pPr>
            <a:r>
              <a:rPr lang="en-US" sz="1300" dirty="0">
                <a:solidFill>
                  <a:srgbClr val="52607A"/>
                </a:solidFill>
                <a:latin typeface="Calibri" pitchFamily="34" charset="0"/>
                <a:ea typeface="Calibri" pitchFamily="34" charset="-122"/>
                <a:cs typeface="Calibri" pitchFamily="34" charset="-120"/>
              </a:rPr>
              <a:t>added from Civil Comments</a:t>
            </a:r>
            <a:endParaRPr lang="en-US" sz="1300" dirty="0"/>
          </a:p>
        </p:txBody>
      </p:sp>
      <p:sp>
        <p:nvSpPr>
          <p:cNvPr id="7" name="Text 5"/>
          <p:cNvSpPr txBox="1"/>
          <p:nvPr/>
        </p:nvSpPr>
        <p:spPr>
          <a:xfrm>
            <a:off x="457200" y="2788920"/>
            <a:ext cx="2011680" cy="502920"/>
          </a:xfrm>
          <a:prstGeom prst="rect">
            <a:avLst/>
          </a:prstGeom>
          <a:noFill/>
          <a:ln/>
        </p:spPr>
        <p:txBody>
          <a:bodyPr wrap="square" lIns="0" tIns="0" rIns="0" bIns="0" rtlCol="0" anchor="t"/>
          <a:lstStyle/>
          <a:p>
            <a:pPr indent="0" marL="0">
              <a:buNone/>
            </a:pPr>
            <a:r>
              <a:rPr lang="en-US" sz="3000" b="1" dirty="0">
                <a:solidFill>
                  <a:srgbClr val="0C6A9D"/>
                </a:solidFill>
                <a:latin typeface="Cambria" pitchFamily="34" charset="0"/>
                <a:ea typeface="Cambria" pitchFamily="34" charset="-122"/>
                <a:cs typeface="Cambria" pitchFamily="34" charset="-120"/>
              </a:rPr>
              <a:t>106</a:t>
            </a:r>
            <a:endParaRPr lang="en-US" sz="3000" dirty="0"/>
          </a:p>
        </p:txBody>
      </p:sp>
      <p:sp>
        <p:nvSpPr>
          <p:cNvPr id="8" name="Text 6"/>
          <p:cNvSpPr txBox="1"/>
          <p:nvPr/>
        </p:nvSpPr>
        <p:spPr>
          <a:xfrm>
            <a:off x="2514600" y="2898648"/>
            <a:ext cx="2194560" cy="457200"/>
          </a:xfrm>
          <a:prstGeom prst="rect">
            <a:avLst/>
          </a:prstGeom>
          <a:noFill/>
          <a:ln/>
        </p:spPr>
        <p:txBody>
          <a:bodyPr wrap="square" lIns="0" tIns="0" rIns="0" bIns="0" rtlCol="0" anchor="t"/>
          <a:lstStyle/>
          <a:p>
            <a:pPr indent="0" marL="0">
              <a:buNone/>
            </a:pPr>
            <a:r>
              <a:rPr lang="en-US" sz="1300" dirty="0">
                <a:solidFill>
                  <a:srgbClr val="52607A"/>
                </a:solidFill>
                <a:latin typeface="Calibri" pitchFamily="34" charset="0"/>
                <a:ea typeface="Calibri" pitchFamily="34" charset="-122"/>
                <a:cs typeface="Calibri" pitchFamily="34" charset="-120"/>
              </a:rPr>
              <a:t>duplicates removed after normalisation</a:t>
            </a:r>
            <a:endParaRPr lang="en-US" sz="1300" dirty="0"/>
          </a:p>
        </p:txBody>
      </p:sp>
      <p:sp>
        <p:nvSpPr>
          <p:cNvPr id="9" name="Text 7"/>
          <p:cNvSpPr txBox="1"/>
          <p:nvPr/>
        </p:nvSpPr>
        <p:spPr>
          <a:xfrm>
            <a:off x="457200" y="3657600"/>
            <a:ext cx="2011680" cy="502920"/>
          </a:xfrm>
          <a:prstGeom prst="rect">
            <a:avLst/>
          </a:prstGeom>
          <a:noFill/>
          <a:ln/>
        </p:spPr>
        <p:txBody>
          <a:bodyPr wrap="square" lIns="0" tIns="0" rIns="0" bIns="0" rtlCol="0" anchor="t"/>
          <a:lstStyle/>
          <a:p>
            <a:pPr indent="0" marL="0">
              <a:buNone/>
            </a:pPr>
            <a:r>
              <a:rPr lang="en-US" sz="3000" b="1" dirty="0">
                <a:solidFill>
                  <a:srgbClr val="0C6A9D"/>
                </a:solidFill>
                <a:latin typeface="Cambria" pitchFamily="34" charset="0"/>
                <a:ea typeface="Cambria" pitchFamily="34" charset="-122"/>
                <a:cs typeface="Cambria" pitchFamily="34" charset="-120"/>
              </a:rPr>
              <a:t>80/10/10</a:t>
            </a:r>
            <a:endParaRPr lang="en-US" sz="3000" dirty="0"/>
          </a:p>
        </p:txBody>
      </p:sp>
      <p:sp>
        <p:nvSpPr>
          <p:cNvPr id="10" name="Text 8"/>
          <p:cNvSpPr txBox="1"/>
          <p:nvPr/>
        </p:nvSpPr>
        <p:spPr>
          <a:xfrm>
            <a:off x="2514600" y="3767328"/>
            <a:ext cx="2194560" cy="457200"/>
          </a:xfrm>
          <a:prstGeom prst="rect">
            <a:avLst/>
          </a:prstGeom>
          <a:noFill/>
          <a:ln/>
        </p:spPr>
        <p:txBody>
          <a:bodyPr wrap="square" lIns="0" tIns="0" rIns="0" bIns="0" rtlCol="0" anchor="t"/>
          <a:lstStyle/>
          <a:p>
            <a:pPr indent="0" marL="0">
              <a:buNone/>
            </a:pPr>
            <a:r>
              <a:rPr lang="en-US" sz="1300" dirty="0">
                <a:solidFill>
                  <a:srgbClr val="52607A"/>
                </a:solidFill>
                <a:latin typeface="Calibri" pitchFamily="34" charset="0"/>
                <a:ea typeface="Calibri" pitchFamily="34" charset="-122"/>
                <a:cs typeface="Calibri" pitchFamily="34" charset="-120"/>
              </a:rPr>
              <a:t>stratified train / val / test</a:t>
            </a:r>
            <a:endParaRPr lang="en-US" sz="1300" dirty="0"/>
          </a:p>
        </p:txBody>
      </p:sp>
      <p:graphicFrame>
        <p:nvGraphicFramePr>
          <p:cNvPr id="11" name="Chart 0" descr=""/>
          <p:cNvGraphicFramePr/>
          <p:nvPr/>
        </p:nvGraphicFramePr>
        <p:xfrm>
          <a:off x="4846320" y="960120"/>
          <a:ext cx="3931920" cy="356616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2607A"/>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94360"/>
          </a:xfrm>
          <a:prstGeom prst="rect">
            <a:avLst/>
          </a:prstGeom>
          <a:noFill/>
          <a:ln/>
        </p:spPr>
        <p:txBody>
          <a:bodyPr wrap="square" lIns="0" tIns="0" rIns="0" bIns="0" rtlCol="0" anchor="ctr"/>
          <a:lstStyle/>
          <a:p>
            <a:pPr algn="l" indent="0" marL="0">
              <a:buNone/>
            </a:pPr>
            <a:r>
              <a:rPr lang="en-US" sz="2800" b="1" dirty="0">
                <a:solidFill>
                  <a:srgbClr val="0C2547"/>
                </a:solidFill>
                <a:latin typeface="Cambria" pitchFamily="34" charset="0"/>
                <a:ea typeface="Cambria" pitchFamily="34" charset="-122"/>
                <a:cs typeface="Cambria" pitchFamily="34" charset="-120"/>
              </a:rPr>
              <a:t>Obfuscation-aware normaliser</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4846320" cy="914400"/>
        </p:xfrm>
        <a:graphic>
          <a:graphicData uri="http://schemas.openxmlformats.org/drawingml/2006/table">
            <a:tbl>
              <a:tblPr/>
              <a:tblGrid>
                <a:gridCol w="2423160"/>
                <a:gridCol w="242316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Input</a:t>
                      </a:r>
                      <a:endParaRPr lang="en-US" sz="1200" dirty="0">
                        <a:latin typeface="Calibri" charset="0"/>
                        <a:ea typeface="Calibri" charset="0"/>
                        <a:cs typeface="Calibri" charset="0"/>
                      </a:endParaRPr>
                    </a:p>
                  </a:txBody>
                  <a:tcPr marL="91440" marR="91440" marT="45720" marB="45720">
                    <a:lnL w="9525" cap="flat" cmpd="sng" algn="ctr">
                      <a:solidFill>
                        <a:srgbClr val="D6DDE8"/>
                      </a:solidFill>
                      <a:prstDash val="solid"/>
                      <a:round/>
                      <a:headEnd type="none" w="med" len="med"/>
                      <a:tailEnd type="none" w="med" len="med"/>
                    </a:lnL>
                    <a:lnR w="9525" cap="flat" cmpd="sng" algn="ctr">
                      <a:solidFill>
                        <a:srgbClr val="D6DDE8"/>
                      </a:solidFill>
                      <a:prstDash val="solid"/>
                      <a:round/>
                      <a:headEnd type="none" w="med" len="med"/>
                      <a:tailEnd type="none" w="med" len="med"/>
                    </a:lnR>
                    <a:lnT w="9525" cap="flat" cmpd="sng" algn="ctr">
                      <a:solidFill>
                        <a:srgbClr val="D6DDE8"/>
                      </a:solidFill>
                      <a:prstDash val="solid"/>
                      <a:round/>
                      <a:headEnd type="none" w="med" len="med"/>
                      <a:tailEnd type="none" w="med" len="med"/>
                    </a:lnT>
                    <a:lnB w="9525" cap="flat" cmpd="sng" algn="ctr">
                      <a:solidFill>
                        <a:srgbClr val="D6DDE8"/>
                      </a:solidFill>
                      <a:prstDash val="solid"/>
                      <a:round/>
                      <a:headEnd type="none" w="med" len="med"/>
                      <a:tailEnd type="none" w="med" len="med"/>
                    </a:lnB>
                    <a:solidFill>
                      <a:srgbClr val="0C254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the model reads</a:t>
                      </a:r>
                      <a:endParaRPr lang="en-US" sz="1200" dirty="0">
                        <a:latin typeface="Calibri" charset="0"/>
                        <a:ea typeface="Calibri" charset="0"/>
                        <a:cs typeface="Calibri" charset="0"/>
                      </a:endParaRPr>
                    </a:p>
                  </a:txBody>
                  <a:tcPr marL="91440" marR="91440" marT="45720" marB="45720">
                    <a:lnL w="9525" cap="flat" cmpd="sng" algn="ctr">
                      <a:solidFill>
                        <a:srgbClr val="D6DDE8"/>
                      </a:solidFill>
                      <a:prstDash val="solid"/>
                      <a:round/>
                      <a:headEnd type="none" w="med" len="med"/>
                      <a:tailEnd type="none" w="med" len="med"/>
                    </a:lnL>
                    <a:lnR w="9525" cap="flat" cmpd="sng" algn="ctr">
                      <a:solidFill>
                        <a:srgbClr val="D6DDE8"/>
                      </a:solidFill>
                      <a:prstDash val="solid"/>
                      <a:round/>
                      <a:headEnd type="none" w="med" len="med"/>
                      <a:tailEnd type="none" w="med" len="med"/>
                    </a:lnR>
                    <a:lnT w="9525" cap="flat" cmpd="sng" algn="ctr">
                      <a:solidFill>
                        <a:srgbClr val="D6DDE8"/>
                      </a:solidFill>
                      <a:prstDash val="solid"/>
                      <a:round/>
                      <a:headEnd type="none" w="med" len="med"/>
                      <a:tailEnd type="none" w="med" len="med"/>
                    </a:lnT>
                    <a:lnB w="9525" cap="flat" cmpd="sng" algn="ctr">
                      <a:solidFill>
                        <a:srgbClr val="D6DDE8"/>
                      </a:solidFill>
                      <a:prstDash val="solid"/>
                      <a:round/>
                      <a:headEnd type="none" w="med" len="med"/>
                      <a:tailEnd type="none" w="med" len="med"/>
                    </a:lnB>
                    <a:solidFill>
                      <a:srgbClr val="0C2547"/>
                    </a:solidFill>
                  </a:tcPr>
                </a:tc>
              </a:tr>
              <a:tr h="384048">
                <a:tc>
                  <a:txBody>
                    <a:bodyPr/>
                    <a:lstStyle/>
                    <a:p>
                      <a:pPr indent="0" marL="0">
                        <a:buNone/>
                      </a:pPr>
                      <a:r>
                        <a:rPr lang="en-US" sz="1200" dirty="0">
                          <a:solidFill>
                            <a:srgbClr val="CC163F"/>
                          </a:solidFill>
                          <a:latin typeface="Consolas" pitchFamily="34" charset="0"/>
                          <a:ea typeface="Consolas" pitchFamily="34" charset="-122"/>
                          <a:cs typeface="Consolas" pitchFamily="34" charset="-120"/>
                        </a:rPr>
                        <a:t>you are a fu*ck iiidiot</a:t>
                      </a:r>
                      <a:endParaRPr lang="en-US" sz="1200" dirty="0">
                        <a:latin typeface="Consolas" charset="0"/>
                        <a:ea typeface="Consolas" charset="0"/>
                        <a:cs typeface="Consolas" charset="0"/>
                      </a:endParaRPr>
                    </a:p>
                  </a:txBody>
                  <a:tcPr marL="91440" marR="91440" marT="45720" marB="45720">
                    <a:lnL w="9525" cap="flat" cmpd="sng" algn="ctr">
                      <a:solidFill>
                        <a:srgbClr val="D6DDE8"/>
                      </a:solidFill>
                      <a:prstDash val="solid"/>
                      <a:round/>
                      <a:headEnd type="none" w="med" len="med"/>
                      <a:tailEnd type="none" w="med" len="med"/>
                    </a:lnL>
                    <a:lnR w="9525" cap="flat" cmpd="sng" algn="ctr">
                      <a:solidFill>
                        <a:srgbClr val="D6DDE8"/>
                      </a:solidFill>
                      <a:prstDash val="solid"/>
                      <a:round/>
                      <a:headEnd type="none" w="med" len="med"/>
                      <a:tailEnd type="none" w="med" len="med"/>
                    </a:lnR>
                    <a:lnT w="9525" cap="flat" cmpd="sng" algn="ctr">
                      <a:solidFill>
                        <a:srgbClr val="D6DDE8"/>
                      </a:solidFill>
                      <a:prstDash val="solid"/>
                      <a:round/>
                      <a:headEnd type="none" w="med" len="med"/>
                      <a:tailEnd type="none" w="med" len="med"/>
                    </a:lnT>
                    <a:lnB w="9525" cap="flat" cmpd="sng" algn="ctr">
                      <a:solidFill>
                        <a:srgbClr val="D6DDE8"/>
                      </a:solidFill>
                      <a:prstDash val="solid"/>
                      <a:round/>
                      <a:headEnd type="none" w="med" len="med"/>
                      <a:tailEnd type="none" w="med" len="med"/>
                    </a:lnB>
                  </a:tcPr>
                </a:tc>
                <a:tc>
                  <a:txBody>
                    <a:bodyPr/>
                    <a:lstStyle/>
                    <a:p>
                      <a:pPr indent="0" marL="0">
                        <a:buNone/>
                      </a:pPr>
                      <a:r>
                        <a:rPr lang="en-US" sz="1200" dirty="0">
                          <a:solidFill>
                            <a:srgbClr val="0C2547"/>
                          </a:solidFill>
                          <a:latin typeface="Consolas" pitchFamily="34" charset="0"/>
                          <a:ea typeface="Consolas" pitchFamily="34" charset="-122"/>
                          <a:cs typeface="Consolas" pitchFamily="34" charset="-120"/>
                        </a:rPr>
                        <a:t>you are a fuck idiot</a:t>
                      </a:r>
                      <a:endParaRPr lang="en-US" sz="1200" dirty="0">
                        <a:latin typeface="Consolas" charset="0"/>
                        <a:ea typeface="Consolas" charset="0"/>
                        <a:cs typeface="Consolas" charset="0"/>
                      </a:endParaRPr>
                    </a:p>
                  </a:txBody>
                  <a:tcPr marL="91440" marR="91440" marT="45720" marB="45720">
                    <a:lnL w="9525" cap="flat" cmpd="sng" algn="ctr">
                      <a:solidFill>
                        <a:srgbClr val="D6DDE8"/>
                      </a:solidFill>
                      <a:prstDash val="solid"/>
                      <a:round/>
                      <a:headEnd type="none" w="med" len="med"/>
                      <a:tailEnd type="none" w="med" len="med"/>
                    </a:lnL>
                    <a:lnR w="9525" cap="flat" cmpd="sng" algn="ctr">
                      <a:solidFill>
                        <a:srgbClr val="D6DDE8"/>
                      </a:solidFill>
                      <a:prstDash val="solid"/>
                      <a:round/>
                      <a:headEnd type="none" w="med" len="med"/>
                      <a:tailEnd type="none" w="med" len="med"/>
                    </a:lnR>
                    <a:lnT w="9525" cap="flat" cmpd="sng" algn="ctr">
                      <a:solidFill>
                        <a:srgbClr val="D6DDE8"/>
                      </a:solidFill>
                      <a:prstDash val="solid"/>
                      <a:round/>
                      <a:headEnd type="none" w="med" len="med"/>
                      <a:tailEnd type="none" w="med" len="med"/>
                    </a:lnT>
                    <a:lnB w="9525" cap="flat" cmpd="sng" algn="ctr">
                      <a:solidFill>
                        <a:srgbClr val="D6DDE8"/>
                      </a:solidFill>
                      <a:prstDash val="solid"/>
                      <a:round/>
                      <a:headEnd type="none" w="med" len="med"/>
                      <a:tailEnd type="none" w="med" len="med"/>
                    </a:lnB>
                  </a:tcPr>
                </a:tc>
              </a:tr>
              <a:tr h="384048">
                <a:tc>
                  <a:txBody>
                    <a:bodyPr/>
                    <a:lstStyle/>
                    <a:p>
                      <a:pPr indent="0" marL="0">
                        <a:buNone/>
                      </a:pPr>
                      <a:r>
                        <a:rPr lang="en-US" sz="1200" dirty="0">
                          <a:solidFill>
                            <a:srgbClr val="CC163F"/>
                          </a:solidFill>
                          <a:latin typeface="Consolas" pitchFamily="34" charset="0"/>
                          <a:ea typeface="Consolas" pitchFamily="34" charset="-122"/>
                          <a:cs typeface="Consolas" pitchFamily="34" charset="-120"/>
                        </a:rPr>
                        <a:t>f u c k you</a:t>
                      </a:r>
                      <a:endParaRPr lang="en-US" sz="1200" dirty="0">
                        <a:latin typeface="Consolas" charset="0"/>
                        <a:ea typeface="Consolas" charset="0"/>
                        <a:cs typeface="Consolas" charset="0"/>
                      </a:endParaRPr>
                    </a:p>
                  </a:txBody>
                  <a:tcPr marL="91440" marR="91440" marT="45720" marB="45720">
                    <a:lnL w="9525" cap="flat" cmpd="sng" algn="ctr">
                      <a:solidFill>
                        <a:srgbClr val="D6DDE8"/>
                      </a:solidFill>
                      <a:prstDash val="solid"/>
                      <a:round/>
                      <a:headEnd type="none" w="med" len="med"/>
                      <a:tailEnd type="none" w="med" len="med"/>
                    </a:lnL>
                    <a:lnR w="9525" cap="flat" cmpd="sng" algn="ctr">
                      <a:solidFill>
                        <a:srgbClr val="D6DDE8"/>
                      </a:solidFill>
                      <a:prstDash val="solid"/>
                      <a:round/>
                      <a:headEnd type="none" w="med" len="med"/>
                      <a:tailEnd type="none" w="med" len="med"/>
                    </a:lnR>
                    <a:lnT w="9525" cap="flat" cmpd="sng" algn="ctr">
                      <a:solidFill>
                        <a:srgbClr val="D6DDE8"/>
                      </a:solidFill>
                      <a:prstDash val="solid"/>
                      <a:round/>
                      <a:headEnd type="none" w="med" len="med"/>
                      <a:tailEnd type="none" w="med" len="med"/>
                    </a:lnT>
                    <a:lnB w="9525" cap="flat" cmpd="sng" algn="ctr">
                      <a:solidFill>
                        <a:srgbClr val="D6DDE8"/>
                      </a:solidFill>
                      <a:prstDash val="solid"/>
                      <a:round/>
                      <a:headEnd type="none" w="med" len="med"/>
                      <a:tailEnd type="none" w="med" len="med"/>
                    </a:lnB>
                  </a:tcPr>
                </a:tc>
                <a:tc>
                  <a:txBody>
                    <a:bodyPr/>
                    <a:lstStyle/>
                    <a:p>
                      <a:pPr indent="0" marL="0">
                        <a:buNone/>
                      </a:pPr>
                      <a:r>
                        <a:rPr lang="en-US" sz="1200" dirty="0">
                          <a:solidFill>
                            <a:srgbClr val="0C2547"/>
                          </a:solidFill>
                          <a:latin typeface="Consolas" pitchFamily="34" charset="0"/>
                          <a:ea typeface="Consolas" pitchFamily="34" charset="-122"/>
                          <a:cs typeface="Consolas" pitchFamily="34" charset="-120"/>
                        </a:rPr>
                        <a:t>fuck you</a:t>
                      </a:r>
                      <a:endParaRPr lang="en-US" sz="1200" dirty="0">
                        <a:latin typeface="Consolas" charset="0"/>
                        <a:ea typeface="Consolas" charset="0"/>
                        <a:cs typeface="Consolas" charset="0"/>
                      </a:endParaRPr>
                    </a:p>
                  </a:txBody>
                  <a:tcPr marL="91440" marR="91440" marT="45720" marB="45720">
                    <a:lnL w="9525" cap="flat" cmpd="sng" algn="ctr">
                      <a:solidFill>
                        <a:srgbClr val="D6DDE8"/>
                      </a:solidFill>
                      <a:prstDash val="solid"/>
                      <a:round/>
                      <a:headEnd type="none" w="med" len="med"/>
                      <a:tailEnd type="none" w="med" len="med"/>
                    </a:lnL>
                    <a:lnR w="9525" cap="flat" cmpd="sng" algn="ctr">
                      <a:solidFill>
                        <a:srgbClr val="D6DDE8"/>
                      </a:solidFill>
                      <a:prstDash val="solid"/>
                      <a:round/>
                      <a:headEnd type="none" w="med" len="med"/>
                      <a:tailEnd type="none" w="med" len="med"/>
                    </a:lnR>
                    <a:lnT w="9525" cap="flat" cmpd="sng" algn="ctr">
                      <a:solidFill>
                        <a:srgbClr val="D6DDE8"/>
                      </a:solidFill>
                      <a:prstDash val="solid"/>
                      <a:round/>
                      <a:headEnd type="none" w="med" len="med"/>
                      <a:tailEnd type="none" w="med" len="med"/>
                    </a:lnT>
                    <a:lnB w="9525" cap="flat" cmpd="sng" algn="ctr">
                      <a:solidFill>
                        <a:srgbClr val="D6DDE8"/>
                      </a:solidFill>
                      <a:prstDash val="solid"/>
                      <a:round/>
                      <a:headEnd type="none" w="med" len="med"/>
                      <a:tailEnd type="none" w="med" len="med"/>
                    </a:lnB>
                  </a:tcPr>
                </a:tc>
              </a:tr>
              <a:tr h="384048">
                <a:tc>
                  <a:txBody>
                    <a:bodyPr/>
                    <a:lstStyle/>
                    <a:p>
                      <a:pPr indent="0" marL="0">
                        <a:buNone/>
                      </a:pPr>
                      <a:r>
                        <a:rPr lang="en-US" sz="1200" dirty="0">
                          <a:solidFill>
                            <a:srgbClr val="CC163F"/>
                          </a:solidFill>
                          <a:latin typeface="Consolas" pitchFamily="34" charset="0"/>
                          <a:ea typeface="Consolas" pitchFamily="34" charset="-122"/>
                          <a:cs typeface="Consolas" pitchFamily="34" charset="-120"/>
                        </a:rPr>
                        <a:t>u r a m0r0n</a:t>
                      </a:r>
                      <a:endParaRPr lang="en-US" sz="1200" dirty="0">
                        <a:latin typeface="Consolas" charset="0"/>
                        <a:ea typeface="Consolas" charset="0"/>
                        <a:cs typeface="Consolas" charset="0"/>
                      </a:endParaRPr>
                    </a:p>
                  </a:txBody>
                  <a:tcPr marL="91440" marR="91440" marT="45720" marB="45720">
                    <a:lnL w="9525" cap="flat" cmpd="sng" algn="ctr">
                      <a:solidFill>
                        <a:srgbClr val="D6DDE8"/>
                      </a:solidFill>
                      <a:prstDash val="solid"/>
                      <a:round/>
                      <a:headEnd type="none" w="med" len="med"/>
                      <a:tailEnd type="none" w="med" len="med"/>
                    </a:lnL>
                    <a:lnR w="9525" cap="flat" cmpd="sng" algn="ctr">
                      <a:solidFill>
                        <a:srgbClr val="D6DDE8"/>
                      </a:solidFill>
                      <a:prstDash val="solid"/>
                      <a:round/>
                      <a:headEnd type="none" w="med" len="med"/>
                      <a:tailEnd type="none" w="med" len="med"/>
                    </a:lnR>
                    <a:lnT w="9525" cap="flat" cmpd="sng" algn="ctr">
                      <a:solidFill>
                        <a:srgbClr val="D6DDE8"/>
                      </a:solidFill>
                      <a:prstDash val="solid"/>
                      <a:round/>
                      <a:headEnd type="none" w="med" len="med"/>
                      <a:tailEnd type="none" w="med" len="med"/>
                    </a:lnT>
                    <a:lnB w="9525" cap="flat" cmpd="sng" algn="ctr">
                      <a:solidFill>
                        <a:srgbClr val="D6DDE8"/>
                      </a:solidFill>
                      <a:prstDash val="solid"/>
                      <a:round/>
                      <a:headEnd type="none" w="med" len="med"/>
                      <a:tailEnd type="none" w="med" len="med"/>
                    </a:lnB>
                  </a:tcPr>
                </a:tc>
                <a:tc>
                  <a:txBody>
                    <a:bodyPr/>
                    <a:lstStyle/>
                    <a:p>
                      <a:pPr indent="0" marL="0">
                        <a:buNone/>
                      </a:pPr>
                      <a:r>
                        <a:rPr lang="en-US" sz="1200" dirty="0">
                          <a:solidFill>
                            <a:srgbClr val="0C2547"/>
                          </a:solidFill>
                          <a:latin typeface="Consolas" pitchFamily="34" charset="0"/>
                          <a:ea typeface="Consolas" pitchFamily="34" charset="-122"/>
                          <a:cs typeface="Consolas" pitchFamily="34" charset="-120"/>
                        </a:rPr>
                        <a:t>u r a moron</a:t>
                      </a:r>
                      <a:endParaRPr lang="en-US" sz="1200" dirty="0">
                        <a:latin typeface="Consolas" charset="0"/>
                        <a:ea typeface="Consolas" charset="0"/>
                        <a:cs typeface="Consolas" charset="0"/>
                      </a:endParaRPr>
                    </a:p>
                  </a:txBody>
                  <a:tcPr marL="91440" marR="91440" marT="45720" marB="45720">
                    <a:lnL w="9525" cap="flat" cmpd="sng" algn="ctr">
                      <a:solidFill>
                        <a:srgbClr val="D6DDE8"/>
                      </a:solidFill>
                      <a:prstDash val="solid"/>
                      <a:round/>
                      <a:headEnd type="none" w="med" len="med"/>
                      <a:tailEnd type="none" w="med" len="med"/>
                    </a:lnL>
                    <a:lnR w="9525" cap="flat" cmpd="sng" algn="ctr">
                      <a:solidFill>
                        <a:srgbClr val="D6DDE8"/>
                      </a:solidFill>
                      <a:prstDash val="solid"/>
                      <a:round/>
                      <a:headEnd type="none" w="med" len="med"/>
                      <a:tailEnd type="none" w="med" len="med"/>
                    </a:lnR>
                    <a:lnT w="9525" cap="flat" cmpd="sng" algn="ctr">
                      <a:solidFill>
                        <a:srgbClr val="D6DDE8"/>
                      </a:solidFill>
                      <a:prstDash val="solid"/>
                      <a:round/>
                      <a:headEnd type="none" w="med" len="med"/>
                      <a:tailEnd type="none" w="med" len="med"/>
                    </a:lnT>
                    <a:lnB w="9525" cap="flat" cmpd="sng" algn="ctr">
                      <a:solidFill>
                        <a:srgbClr val="D6DDE8"/>
                      </a:solidFill>
                      <a:prstDash val="solid"/>
                      <a:round/>
                      <a:headEnd type="none" w="med" len="med"/>
                      <a:tailEnd type="none" w="med" len="med"/>
                    </a:lnB>
                  </a:tcPr>
                </a:tc>
              </a:tr>
              <a:tr h="384048">
                <a:tc>
                  <a:txBody>
                    <a:bodyPr/>
                    <a:lstStyle/>
                    <a:p>
                      <a:pPr indent="0" marL="0">
                        <a:buNone/>
                      </a:pPr>
                      <a:r>
                        <a:rPr lang="en-US" sz="1200" dirty="0">
                          <a:solidFill>
                            <a:srgbClr val="CC163F"/>
                          </a:solidFill>
                          <a:latin typeface="Consolas" pitchFamily="34" charset="0"/>
                          <a:ea typeface="Consolas" pitchFamily="34" charset="-122"/>
                          <a:cs typeface="Consolas" pitchFamily="34" charset="-120"/>
                        </a:rPr>
                        <a:t>sh!t head</a:t>
                      </a:r>
                      <a:endParaRPr lang="en-US" sz="1200" dirty="0">
                        <a:latin typeface="Consolas" charset="0"/>
                        <a:ea typeface="Consolas" charset="0"/>
                        <a:cs typeface="Consolas" charset="0"/>
                      </a:endParaRPr>
                    </a:p>
                  </a:txBody>
                  <a:tcPr marL="91440" marR="91440" marT="45720" marB="45720">
                    <a:lnL w="9525" cap="flat" cmpd="sng" algn="ctr">
                      <a:solidFill>
                        <a:srgbClr val="D6DDE8"/>
                      </a:solidFill>
                      <a:prstDash val="solid"/>
                      <a:round/>
                      <a:headEnd type="none" w="med" len="med"/>
                      <a:tailEnd type="none" w="med" len="med"/>
                    </a:lnL>
                    <a:lnR w="9525" cap="flat" cmpd="sng" algn="ctr">
                      <a:solidFill>
                        <a:srgbClr val="D6DDE8"/>
                      </a:solidFill>
                      <a:prstDash val="solid"/>
                      <a:round/>
                      <a:headEnd type="none" w="med" len="med"/>
                      <a:tailEnd type="none" w="med" len="med"/>
                    </a:lnR>
                    <a:lnT w="9525" cap="flat" cmpd="sng" algn="ctr">
                      <a:solidFill>
                        <a:srgbClr val="D6DDE8"/>
                      </a:solidFill>
                      <a:prstDash val="solid"/>
                      <a:round/>
                      <a:headEnd type="none" w="med" len="med"/>
                      <a:tailEnd type="none" w="med" len="med"/>
                    </a:lnT>
                    <a:lnB w="9525" cap="flat" cmpd="sng" algn="ctr">
                      <a:solidFill>
                        <a:srgbClr val="D6DDE8"/>
                      </a:solidFill>
                      <a:prstDash val="solid"/>
                      <a:round/>
                      <a:headEnd type="none" w="med" len="med"/>
                      <a:tailEnd type="none" w="med" len="med"/>
                    </a:lnB>
                  </a:tcPr>
                </a:tc>
                <a:tc>
                  <a:txBody>
                    <a:bodyPr/>
                    <a:lstStyle/>
                    <a:p>
                      <a:pPr indent="0" marL="0">
                        <a:buNone/>
                      </a:pPr>
                      <a:r>
                        <a:rPr lang="en-US" sz="1200" dirty="0">
                          <a:solidFill>
                            <a:srgbClr val="0C2547"/>
                          </a:solidFill>
                          <a:latin typeface="Consolas" pitchFamily="34" charset="0"/>
                          <a:ea typeface="Consolas" pitchFamily="34" charset="-122"/>
                          <a:cs typeface="Consolas" pitchFamily="34" charset="-120"/>
                        </a:rPr>
                        <a:t>shithead</a:t>
                      </a:r>
                      <a:endParaRPr lang="en-US" sz="1200" dirty="0">
                        <a:latin typeface="Consolas" charset="0"/>
                        <a:ea typeface="Consolas" charset="0"/>
                        <a:cs typeface="Consolas" charset="0"/>
                      </a:endParaRPr>
                    </a:p>
                  </a:txBody>
                  <a:tcPr marL="91440" marR="91440" marT="45720" marB="45720">
                    <a:lnL w="9525" cap="flat" cmpd="sng" algn="ctr">
                      <a:solidFill>
                        <a:srgbClr val="D6DDE8"/>
                      </a:solidFill>
                      <a:prstDash val="solid"/>
                      <a:round/>
                      <a:headEnd type="none" w="med" len="med"/>
                      <a:tailEnd type="none" w="med" len="med"/>
                    </a:lnL>
                    <a:lnR w="9525" cap="flat" cmpd="sng" algn="ctr">
                      <a:solidFill>
                        <a:srgbClr val="D6DDE8"/>
                      </a:solidFill>
                      <a:prstDash val="solid"/>
                      <a:round/>
                      <a:headEnd type="none" w="med" len="med"/>
                      <a:tailEnd type="none" w="med" len="med"/>
                    </a:lnR>
                    <a:lnT w="9525" cap="flat" cmpd="sng" algn="ctr">
                      <a:solidFill>
                        <a:srgbClr val="D6DDE8"/>
                      </a:solidFill>
                      <a:prstDash val="solid"/>
                      <a:round/>
                      <a:headEnd type="none" w="med" len="med"/>
                      <a:tailEnd type="none" w="med" len="med"/>
                    </a:lnT>
                    <a:lnB w="9525" cap="flat" cmpd="sng" algn="ctr">
                      <a:solidFill>
                        <a:srgbClr val="D6DDE8"/>
                      </a:solidFill>
                      <a:prstDash val="solid"/>
                      <a:round/>
                      <a:headEnd type="none" w="med" len="med"/>
                      <a:tailEnd type="none" w="med" len="med"/>
                    </a:lnB>
                  </a:tcPr>
                </a:tc>
              </a:tr>
              <a:tr h="384048">
                <a:tc>
                  <a:txBody>
                    <a:bodyPr/>
                    <a:lstStyle/>
                    <a:p>
                      <a:pPr indent="0" marL="0">
                        <a:buNone/>
                      </a:pPr>
                      <a:r>
                        <a:rPr lang="en-US" sz="1200" dirty="0">
                          <a:solidFill>
                            <a:srgbClr val="CC163F"/>
                          </a:solidFill>
                          <a:latin typeface="Consolas" pitchFamily="34" charset="0"/>
                          <a:ea typeface="Consolas" pitchFamily="34" charset="-122"/>
                          <a:cs typeface="Consolas" pitchFamily="34" charset="-120"/>
                        </a:rPr>
                        <a:t>ѕtupid  (Cyrillic)</a:t>
                      </a:r>
                      <a:endParaRPr lang="en-US" sz="1200" dirty="0">
                        <a:latin typeface="Consolas" charset="0"/>
                        <a:ea typeface="Consolas" charset="0"/>
                        <a:cs typeface="Consolas" charset="0"/>
                      </a:endParaRPr>
                    </a:p>
                  </a:txBody>
                  <a:tcPr marL="91440" marR="91440" marT="45720" marB="45720">
                    <a:lnL w="9525" cap="flat" cmpd="sng" algn="ctr">
                      <a:solidFill>
                        <a:srgbClr val="D6DDE8"/>
                      </a:solidFill>
                      <a:prstDash val="solid"/>
                      <a:round/>
                      <a:headEnd type="none" w="med" len="med"/>
                      <a:tailEnd type="none" w="med" len="med"/>
                    </a:lnL>
                    <a:lnR w="9525" cap="flat" cmpd="sng" algn="ctr">
                      <a:solidFill>
                        <a:srgbClr val="D6DDE8"/>
                      </a:solidFill>
                      <a:prstDash val="solid"/>
                      <a:round/>
                      <a:headEnd type="none" w="med" len="med"/>
                      <a:tailEnd type="none" w="med" len="med"/>
                    </a:lnR>
                    <a:lnT w="9525" cap="flat" cmpd="sng" algn="ctr">
                      <a:solidFill>
                        <a:srgbClr val="D6DDE8"/>
                      </a:solidFill>
                      <a:prstDash val="solid"/>
                      <a:round/>
                      <a:headEnd type="none" w="med" len="med"/>
                      <a:tailEnd type="none" w="med" len="med"/>
                    </a:lnT>
                    <a:lnB w="9525" cap="flat" cmpd="sng" algn="ctr">
                      <a:solidFill>
                        <a:srgbClr val="D6DDE8"/>
                      </a:solidFill>
                      <a:prstDash val="solid"/>
                      <a:round/>
                      <a:headEnd type="none" w="med" len="med"/>
                      <a:tailEnd type="none" w="med" len="med"/>
                    </a:lnB>
                  </a:tcPr>
                </a:tc>
                <a:tc>
                  <a:txBody>
                    <a:bodyPr/>
                    <a:lstStyle/>
                    <a:p>
                      <a:pPr indent="0" marL="0">
                        <a:buNone/>
                      </a:pPr>
                      <a:r>
                        <a:rPr lang="en-US" sz="1200" dirty="0">
                          <a:solidFill>
                            <a:srgbClr val="0C2547"/>
                          </a:solidFill>
                          <a:latin typeface="Consolas" pitchFamily="34" charset="0"/>
                          <a:ea typeface="Consolas" pitchFamily="34" charset="-122"/>
                          <a:cs typeface="Consolas" pitchFamily="34" charset="-120"/>
                        </a:rPr>
                        <a:t>stupid</a:t>
                      </a:r>
                      <a:endParaRPr lang="en-US" sz="1200" dirty="0">
                        <a:latin typeface="Consolas" charset="0"/>
                        <a:ea typeface="Consolas" charset="0"/>
                        <a:cs typeface="Consolas" charset="0"/>
                      </a:endParaRPr>
                    </a:p>
                  </a:txBody>
                  <a:tcPr marL="91440" marR="91440" marT="45720" marB="45720">
                    <a:lnL w="9525" cap="flat" cmpd="sng" algn="ctr">
                      <a:solidFill>
                        <a:srgbClr val="D6DDE8"/>
                      </a:solidFill>
                      <a:prstDash val="solid"/>
                      <a:round/>
                      <a:headEnd type="none" w="med" len="med"/>
                      <a:tailEnd type="none" w="med" len="med"/>
                    </a:lnL>
                    <a:lnR w="9525" cap="flat" cmpd="sng" algn="ctr">
                      <a:solidFill>
                        <a:srgbClr val="D6DDE8"/>
                      </a:solidFill>
                      <a:prstDash val="solid"/>
                      <a:round/>
                      <a:headEnd type="none" w="med" len="med"/>
                      <a:tailEnd type="none" w="med" len="med"/>
                    </a:lnR>
                    <a:lnT w="9525" cap="flat" cmpd="sng" algn="ctr">
                      <a:solidFill>
                        <a:srgbClr val="D6DDE8"/>
                      </a:solidFill>
                      <a:prstDash val="solid"/>
                      <a:round/>
                      <a:headEnd type="none" w="med" len="med"/>
                      <a:tailEnd type="none" w="med" len="med"/>
                    </a:lnT>
                    <a:lnB w="9525" cap="flat" cmpd="sng" algn="ctr">
                      <a:solidFill>
                        <a:srgbClr val="D6DDE8"/>
                      </a:solidFill>
                      <a:prstDash val="solid"/>
                      <a:round/>
                      <a:headEnd type="none" w="med" len="med"/>
                      <a:tailEnd type="none" w="med" len="med"/>
                    </a:lnB>
                  </a:tcPr>
                </a:tc>
              </a:tr>
              <a:tr h="384048">
                <a:tc>
                  <a:txBody>
                    <a:bodyPr/>
                    <a:lstStyle/>
                    <a:p>
                      <a:pPr indent="0" marL="0">
                        <a:buNone/>
                      </a:pPr>
                      <a:r>
                        <a:rPr lang="en-US" sz="1200" dirty="0">
                          <a:solidFill>
                            <a:srgbClr val="CC163F"/>
                          </a:solidFill>
                          <a:latin typeface="Consolas" pitchFamily="34" charset="0"/>
                          <a:ea typeface="Consolas" pitchFamily="34" charset="-122"/>
                          <a:cs typeface="Consolas" pitchFamily="34" charset="-120"/>
                        </a:rPr>
                        <a:t>kill the process</a:t>
                      </a:r>
                      <a:endParaRPr lang="en-US" sz="1200" dirty="0">
                        <a:latin typeface="Consolas" charset="0"/>
                        <a:ea typeface="Consolas" charset="0"/>
                        <a:cs typeface="Consolas" charset="0"/>
                      </a:endParaRPr>
                    </a:p>
                  </a:txBody>
                  <a:tcPr marL="91440" marR="91440" marT="45720" marB="45720">
                    <a:lnL w="9525" cap="flat" cmpd="sng" algn="ctr">
                      <a:solidFill>
                        <a:srgbClr val="D6DDE8"/>
                      </a:solidFill>
                      <a:prstDash val="solid"/>
                      <a:round/>
                      <a:headEnd type="none" w="med" len="med"/>
                      <a:tailEnd type="none" w="med" len="med"/>
                    </a:lnL>
                    <a:lnR w="9525" cap="flat" cmpd="sng" algn="ctr">
                      <a:solidFill>
                        <a:srgbClr val="D6DDE8"/>
                      </a:solidFill>
                      <a:prstDash val="solid"/>
                      <a:round/>
                      <a:headEnd type="none" w="med" len="med"/>
                      <a:tailEnd type="none" w="med" len="med"/>
                    </a:lnR>
                    <a:lnT w="9525" cap="flat" cmpd="sng" algn="ctr">
                      <a:solidFill>
                        <a:srgbClr val="D6DDE8"/>
                      </a:solidFill>
                      <a:prstDash val="solid"/>
                      <a:round/>
                      <a:headEnd type="none" w="med" len="med"/>
                      <a:tailEnd type="none" w="med" len="med"/>
                    </a:lnT>
                    <a:lnB w="9525" cap="flat" cmpd="sng" algn="ctr">
                      <a:solidFill>
                        <a:srgbClr val="D6DDE8"/>
                      </a:solidFill>
                      <a:prstDash val="solid"/>
                      <a:round/>
                      <a:headEnd type="none" w="med" len="med"/>
                      <a:tailEnd type="none" w="med" len="med"/>
                    </a:lnB>
                  </a:tcPr>
                </a:tc>
                <a:tc>
                  <a:txBody>
                    <a:bodyPr/>
                    <a:lstStyle/>
                    <a:p>
                      <a:pPr indent="0" marL="0">
                        <a:buNone/>
                      </a:pPr>
                      <a:r>
                        <a:rPr lang="en-US" sz="1200" dirty="0">
                          <a:solidFill>
                            <a:srgbClr val="52607A"/>
                          </a:solidFill>
                          <a:latin typeface="Consolas" pitchFamily="34" charset="0"/>
                          <a:ea typeface="Consolas" pitchFamily="34" charset="-122"/>
                          <a:cs typeface="Consolas" pitchFamily="34" charset="-120"/>
                        </a:rPr>
                        <a:t>kill the process  (unchanged)</a:t>
                      </a:r>
                      <a:endParaRPr lang="en-US" sz="1200" dirty="0">
                        <a:latin typeface="Consolas" charset="0"/>
                        <a:ea typeface="Consolas" charset="0"/>
                        <a:cs typeface="Consolas" charset="0"/>
                      </a:endParaRPr>
                    </a:p>
                  </a:txBody>
                  <a:tcPr marL="91440" marR="91440" marT="45720" marB="45720">
                    <a:lnL w="9525" cap="flat" cmpd="sng" algn="ctr">
                      <a:solidFill>
                        <a:srgbClr val="D6DDE8"/>
                      </a:solidFill>
                      <a:prstDash val="solid"/>
                      <a:round/>
                      <a:headEnd type="none" w="med" len="med"/>
                      <a:tailEnd type="none" w="med" len="med"/>
                    </a:lnL>
                    <a:lnR w="9525" cap="flat" cmpd="sng" algn="ctr">
                      <a:solidFill>
                        <a:srgbClr val="D6DDE8"/>
                      </a:solidFill>
                      <a:prstDash val="solid"/>
                      <a:round/>
                      <a:headEnd type="none" w="med" len="med"/>
                      <a:tailEnd type="none" w="med" len="med"/>
                    </a:lnR>
                    <a:lnT w="9525" cap="flat" cmpd="sng" algn="ctr">
                      <a:solidFill>
                        <a:srgbClr val="D6DDE8"/>
                      </a:solidFill>
                      <a:prstDash val="solid"/>
                      <a:round/>
                      <a:headEnd type="none" w="med" len="med"/>
                      <a:tailEnd type="none" w="med" len="med"/>
                    </a:lnT>
                    <a:lnB w="9525" cap="flat" cmpd="sng" algn="ctr">
                      <a:solidFill>
                        <a:srgbClr val="D6DDE8"/>
                      </a:solidFill>
                      <a:prstDash val="solid"/>
                      <a:round/>
                      <a:headEnd type="none" w="med" len="med"/>
                      <a:tailEnd type="none" w="med" len="med"/>
                    </a:lnB>
                  </a:tcPr>
                </a:tc>
              </a:tr>
            </a:tbl>
          </a:graphicData>
        </a:graphic>
      </p:graphicFrame>
      <p:sp>
        <p:nvSpPr>
          <p:cNvPr id="4" name="normaliser-rules"/>
          <p:cNvSpPr/>
          <p:nvPr/>
        </p:nvSpPr>
        <p:spPr>
          <a:xfrm>
            <a:off x="5577840" y="1051560"/>
            <a:ext cx="3108960" cy="3429000"/>
          </a:xfrm>
          <a:prstGeom prst="roundRect">
            <a:avLst>
              <a:gd name="adj" fmla="val 3529"/>
            </a:avLst>
          </a:prstGeom>
          <a:solidFill>
            <a:srgbClr val="EEF3F9"/>
          </a:solidFill>
          <a:ln w="12700">
            <a:solidFill>
              <a:srgbClr val="EEF3F9"/>
            </a:solidFill>
            <a:prstDash val="solid"/>
          </a:ln>
        </p:spPr>
      </p:sp>
      <p:sp>
        <p:nvSpPr>
          <p:cNvPr id="5" name="Text 2"/>
          <p:cNvSpPr txBox="1"/>
          <p:nvPr/>
        </p:nvSpPr>
        <p:spPr>
          <a:xfrm>
            <a:off x="5806440" y="1188720"/>
            <a:ext cx="2743200" cy="365760"/>
          </a:xfrm>
          <a:prstGeom prst="rect">
            <a:avLst/>
          </a:prstGeom>
          <a:noFill/>
          <a:ln/>
        </p:spPr>
        <p:txBody>
          <a:bodyPr wrap="square" lIns="0" tIns="0" rIns="0" bIns="0" rtlCol="0" anchor="t"/>
          <a:lstStyle/>
          <a:p>
            <a:pPr indent="0" marL="0">
              <a:buNone/>
            </a:pPr>
            <a:r>
              <a:rPr lang="en-US" sz="1600" b="1" dirty="0">
                <a:solidFill>
                  <a:srgbClr val="0C2547"/>
                </a:solidFill>
                <a:latin typeface="Calibri" pitchFamily="34" charset="0"/>
                <a:ea typeface="Calibri" pitchFamily="34" charset="-122"/>
                <a:cs typeface="Calibri" pitchFamily="34" charset="-120"/>
              </a:rPr>
              <a:t>How it works</a:t>
            </a:r>
            <a:endParaRPr lang="en-US" sz="1600" dirty="0"/>
          </a:p>
        </p:txBody>
      </p:sp>
      <p:sp>
        <p:nvSpPr>
          <p:cNvPr id="6" name="Text 3"/>
          <p:cNvSpPr txBox="1"/>
          <p:nvPr/>
        </p:nvSpPr>
        <p:spPr>
          <a:xfrm>
            <a:off x="5806440" y="1645920"/>
            <a:ext cx="2743200" cy="274320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52607A"/>
                </a:solidFill>
                <a:latin typeface="Calibri" pitchFamily="34" charset="0"/>
                <a:ea typeface="Calibri" pitchFamily="34" charset="-122"/>
                <a:cs typeface="Calibri" pitchFamily="34" charset="-120"/>
              </a:rPr>
              <a:t>Unicode folding and look-alike letters</a:t>
            </a:r>
            <a:endParaRPr lang="en-US" sz="1250" dirty="0"/>
          </a:p>
          <a:p>
            <a:pPr marL="342900" indent="-342900">
              <a:spcAft>
                <a:spcPts val="500"/>
              </a:spcAft>
              <a:buSzPct val="100000"/>
              <a:buChar char="•"/>
            </a:pPr>
            <a:r>
              <a:rPr lang="en-US" sz="1250" dirty="0">
                <a:solidFill>
                  <a:srgbClr val="52607A"/>
                </a:solidFill>
                <a:latin typeface="Calibri" pitchFamily="34" charset="0"/>
                <a:ea typeface="Calibri" pitchFamily="34" charset="-122"/>
                <a:cs typeface="Calibri" pitchFamily="34" charset="-120"/>
              </a:rPr>
              <a:t>Join spaced letters</a:t>
            </a:r>
            <a:endParaRPr lang="en-US" sz="1250" dirty="0"/>
          </a:p>
          <a:p>
            <a:pPr marL="342900" indent="-342900">
              <a:spcAft>
                <a:spcPts val="500"/>
              </a:spcAft>
              <a:buSzPct val="100000"/>
              <a:buChar char="•"/>
            </a:pPr>
            <a:r>
              <a:rPr lang="en-US" sz="1250" dirty="0">
                <a:solidFill>
                  <a:srgbClr val="52607A"/>
                </a:solidFill>
                <a:latin typeface="Calibri" pitchFamily="34" charset="0"/>
                <a:ea typeface="Calibri" pitchFamily="34" charset="-122"/>
                <a:cs typeface="Calibri" pitchFamily="34" charset="-120"/>
              </a:rPr>
              <a:t>Leetspeak, masks and wildcards</a:t>
            </a:r>
            <a:endParaRPr lang="en-US" sz="1250" dirty="0"/>
          </a:p>
          <a:p>
            <a:pPr marL="342900" indent="-342900">
              <a:spcAft>
                <a:spcPts val="500"/>
              </a:spcAft>
              <a:buSzPct val="100000"/>
              <a:buChar char="•"/>
            </a:pPr>
            <a:r>
              <a:rPr lang="en-US" sz="1250" dirty="0">
                <a:solidFill>
                  <a:srgbClr val="52607A"/>
                </a:solidFill>
                <a:latin typeface="Calibri" pitchFamily="34" charset="0"/>
                <a:ea typeface="Calibri" pitchFamily="34" charset="-122"/>
                <a:cs typeface="Calibri" pitchFamily="34" charset="-120"/>
              </a:rPr>
              <a:t>Collapse letter elongation</a:t>
            </a:r>
            <a:endParaRPr lang="en-US" sz="1250" dirty="0"/>
          </a:p>
          <a:p>
            <a:pPr marL="342900" indent="-342900">
              <a:spcAft>
                <a:spcPts val="500"/>
              </a:spcAft>
              <a:buSzPct val="100000"/>
              <a:buChar char="•"/>
            </a:pPr>
            <a:r>
              <a:rPr lang="en-US" sz="1250" dirty="0">
                <a:solidFill>
                  <a:srgbClr val="52607A"/>
                </a:solidFill>
                <a:latin typeface="Calibri" pitchFamily="34" charset="0"/>
                <a:ea typeface="Calibri" pitchFamily="34" charset="-122"/>
                <a:cs typeface="Calibri" pitchFamily="34" charset="-120"/>
              </a:rPr>
              <a:t>Re-join split words</a:t>
            </a:r>
            <a:endParaRPr lang="en-US" sz="1250" dirty="0"/>
          </a:p>
          <a:p>
            <a:pPr marL="342900" indent="-342900">
              <a:spcAft>
                <a:spcPts val="500"/>
              </a:spcAft>
              <a:buSzPct val="100000"/>
              <a:buChar char="•"/>
            </a:pPr>
            <a:r>
              <a:rPr lang="en-US" sz="1250" b="1" dirty="0">
                <a:solidFill>
                  <a:srgbClr val="0C6A9D"/>
                </a:solidFill>
                <a:latin typeface="Calibri" pitchFamily="34" charset="0"/>
                <a:ea typeface="Calibri" pitchFamily="34" charset="-122"/>
                <a:cs typeface="Calibri" pitchFamily="34" charset="-120"/>
              </a:rPr>
              <a:t>Every repair validated against a 145-term lexicon: clean text is never rewritten</a:t>
            </a:r>
            <a:endParaRPr lang="en-US" sz="125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2607A"/>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94360"/>
          </a:xfrm>
          <a:prstGeom prst="rect">
            <a:avLst/>
          </a:prstGeom>
          <a:noFill/>
          <a:ln/>
        </p:spPr>
        <p:txBody>
          <a:bodyPr wrap="square" lIns="0" tIns="0" rIns="0" bIns="0" rtlCol="0" anchor="ctr"/>
          <a:lstStyle/>
          <a:p>
            <a:pPr algn="l" indent="0" marL="0">
              <a:buNone/>
            </a:pPr>
            <a:r>
              <a:rPr lang="en-US" sz="2800" b="1" dirty="0">
                <a:solidFill>
                  <a:srgbClr val="0C2547"/>
                </a:solidFill>
                <a:latin typeface="Cambria" pitchFamily="34" charset="0"/>
                <a:ea typeface="Cambria" pitchFamily="34" charset="-122"/>
                <a:cs typeface="Cambria" pitchFamily="34" charset="-120"/>
              </a:rPr>
              <a:t>Adversarial augmentation and honest evaluation</a:t>
            </a:r>
            <a:endParaRPr lang="en-US" sz="2800" dirty="0"/>
          </a:p>
        </p:txBody>
      </p:sp>
      <p:sp>
        <p:nvSpPr>
          <p:cNvPr id="3" name="augmentation"/>
          <p:cNvSpPr/>
          <p:nvPr/>
        </p:nvSpPr>
        <p:spPr>
          <a:xfrm>
            <a:off x="457200" y="1051560"/>
            <a:ext cx="3931920" cy="3429000"/>
          </a:xfrm>
          <a:prstGeom prst="roundRect">
            <a:avLst>
              <a:gd name="adj" fmla="val 3200"/>
            </a:avLst>
          </a:prstGeom>
          <a:solidFill>
            <a:srgbClr val="FDE8EC"/>
          </a:solidFill>
          <a:ln w="12700">
            <a:solidFill>
              <a:srgbClr val="FDE8EC"/>
            </a:solidFill>
            <a:prstDash val="solid"/>
          </a:ln>
        </p:spPr>
      </p:sp>
      <p:pic>
        <p:nvPicPr>
          <p:cNvPr id="4" name="Image 0" descr="preencoded.png">    </p:cNvPr>
          <p:cNvPicPr>
            <a:picLocks noChangeAspect="1"/>
          </p:cNvPicPr>
          <p:nvPr/>
        </p:nvPicPr>
        <p:blipFill>
          <a:blip r:embed="rId1"/>
          <a:stretch>
            <a:fillRect/>
          </a:stretch>
        </p:blipFill>
        <p:spPr>
          <a:xfrm>
            <a:off x="685800" y="1234440"/>
            <a:ext cx="384048" cy="384048"/>
          </a:xfrm>
          <a:prstGeom prst="rect">
            <a:avLst/>
          </a:prstGeom>
        </p:spPr>
      </p:pic>
      <p:sp>
        <p:nvSpPr>
          <p:cNvPr id="5" name="Text 2"/>
          <p:cNvSpPr txBox="1"/>
          <p:nvPr/>
        </p:nvSpPr>
        <p:spPr>
          <a:xfrm>
            <a:off x="1188720" y="1261872"/>
            <a:ext cx="2926080" cy="365760"/>
          </a:xfrm>
          <a:prstGeom prst="rect">
            <a:avLst/>
          </a:prstGeom>
          <a:noFill/>
          <a:ln/>
        </p:spPr>
        <p:txBody>
          <a:bodyPr wrap="square" lIns="0" tIns="0" rIns="0" bIns="0" rtlCol="0" anchor="t"/>
          <a:lstStyle/>
          <a:p>
            <a:pPr indent="0" marL="0">
              <a:buNone/>
            </a:pPr>
            <a:r>
              <a:rPr lang="en-US" sz="1600" b="1" dirty="0">
                <a:solidFill>
                  <a:srgbClr val="0C2547"/>
                </a:solidFill>
                <a:latin typeface="Calibri" pitchFamily="34" charset="0"/>
                <a:ea typeface="Calibri" pitchFamily="34" charset="-122"/>
                <a:cs typeface="Calibri" pitchFamily="34" charset="-120"/>
              </a:rPr>
              <a:t>Augmentation</a:t>
            </a:r>
            <a:endParaRPr lang="en-US" sz="1600" dirty="0"/>
          </a:p>
        </p:txBody>
      </p:sp>
      <p:sp>
        <p:nvSpPr>
          <p:cNvPr id="6" name="Text 3"/>
          <p:cNvSpPr txBox="1"/>
          <p:nvPr/>
        </p:nvSpPr>
        <p:spPr>
          <a:xfrm>
            <a:off x="685800" y="1783080"/>
            <a:ext cx="3520440" cy="17373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52607A"/>
                </a:solidFill>
                <a:latin typeface="Calibri" pitchFamily="34" charset="0"/>
                <a:ea typeface="Calibri" pitchFamily="34" charset="-122"/>
                <a:cs typeface="Calibri" pitchFamily="34" charset="-120"/>
              </a:rPr>
              <a:t>One obfuscated copy of each harassment message</a:t>
            </a:r>
            <a:endParaRPr lang="en-US" sz="1300" dirty="0"/>
          </a:p>
          <a:p>
            <a:pPr marL="342900" indent="-342900">
              <a:spcAft>
                <a:spcPts val="600"/>
              </a:spcAft>
              <a:buSzPct val="100000"/>
              <a:buChar char="•"/>
            </a:pPr>
            <a:r>
              <a:rPr lang="en-US" sz="1300" dirty="0">
                <a:solidFill>
                  <a:srgbClr val="52607A"/>
                </a:solidFill>
                <a:latin typeface="Calibri" pitchFamily="34" charset="0"/>
                <a:ea typeface="Calibri" pitchFamily="34" charset="-122"/>
                <a:cs typeface="Calibri" pitchFamily="34" charset="-120"/>
              </a:rPr>
              <a:t>Noisy copies of half the clean messages: no "weird spelling = toxic" shortcut</a:t>
            </a:r>
            <a:endParaRPr lang="en-US" sz="1300" dirty="0"/>
          </a:p>
          <a:p>
            <a:pPr marL="342900" indent="-342900">
              <a:spcAft>
                <a:spcPts val="600"/>
              </a:spcAft>
              <a:buSzPct val="100000"/>
              <a:buChar char="•"/>
            </a:pPr>
            <a:r>
              <a:rPr lang="en-US" sz="1300" b="1" dirty="0">
                <a:solidFill>
                  <a:srgbClr val="52607A"/>
                </a:solidFill>
                <a:latin typeface="Calibri" pitchFamily="34" charset="0"/>
                <a:ea typeface="Calibri" pitchFamily="34" charset="-122"/>
                <a:cs typeface="Calibri" pitchFamily="34" charset="-120"/>
              </a:rPr>
              <a:t>20,666 → 33,314 training messages</a:t>
            </a:r>
            <a:endParaRPr lang="en-US" sz="1300" dirty="0"/>
          </a:p>
        </p:txBody>
      </p:sp>
      <p:sp>
        <p:nvSpPr>
          <p:cNvPr id="7" name="Text 4"/>
          <p:cNvSpPr txBox="1"/>
          <p:nvPr/>
        </p:nvSpPr>
        <p:spPr>
          <a:xfrm>
            <a:off x="685800" y="3794760"/>
            <a:ext cx="3520440" cy="365760"/>
          </a:xfrm>
          <a:prstGeom prst="rect">
            <a:avLst/>
          </a:prstGeom>
          <a:noFill/>
          <a:ln/>
        </p:spPr>
        <p:txBody>
          <a:bodyPr wrap="square" lIns="0" tIns="0" rIns="0" bIns="0" rtlCol="0" anchor="t"/>
          <a:lstStyle/>
          <a:p>
            <a:pPr indent="0" marL="0">
              <a:buNone/>
            </a:pPr>
            <a:r>
              <a:rPr lang="en-US" sz="1300" dirty="0">
                <a:solidFill>
                  <a:srgbClr val="CC163F"/>
                </a:solidFill>
                <a:latin typeface="Consolas" pitchFamily="34" charset="0"/>
                <a:ea typeface="Consolas" pitchFamily="34" charset="-122"/>
                <a:cs typeface="Consolas" pitchFamily="34" charset="-120"/>
              </a:rPr>
              <a:t>you are an idiot  →  you are an 1d!0t</a:t>
            </a:r>
            <a:endParaRPr lang="en-US" sz="1300" dirty="0"/>
          </a:p>
        </p:txBody>
      </p:sp>
      <p:sp>
        <p:nvSpPr>
          <p:cNvPr id="8" name="set-0"/>
          <p:cNvSpPr/>
          <p:nvPr/>
        </p:nvSpPr>
        <p:spPr>
          <a:xfrm>
            <a:off x="4663440" y="1051560"/>
            <a:ext cx="4023360" cy="731520"/>
          </a:xfrm>
          <a:prstGeom prst="roundRect">
            <a:avLst>
              <a:gd name="adj" fmla="val 15000"/>
            </a:avLst>
          </a:prstGeom>
          <a:solidFill>
            <a:srgbClr val="EEF3F9"/>
          </a:solidFill>
          <a:ln w="12700">
            <a:solidFill>
              <a:srgbClr val="EEF3F9"/>
            </a:solidFill>
            <a:prstDash val="solid"/>
          </a:ln>
        </p:spPr>
      </p:sp>
      <p:sp>
        <p:nvSpPr>
          <p:cNvPr id="9" name="Text 6"/>
          <p:cNvSpPr txBox="1"/>
          <p:nvPr/>
        </p:nvSpPr>
        <p:spPr>
          <a:xfrm>
            <a:off x="4846320" y="1161288"/>
            <a:ext cx="1463040" cy="502920"/>
          </a:xfrm>
          <a:prstGeom prst="rect">
            <a:avLst/>
          </a:prstGeom>
          <a:noFill/>
          <a:ln/>
        </p:spPr>
        <p:txBody>
          <a:bodyPr wrap="square" lIns="0" tIns="0" rIns="0" bIns="0" rtlCol="0" anchor="ctr"/>
          <a:lstStyle/>
          <a:p>
            <a:pPr indent="0" marL="0">
              <a:buNone/>
            </a:pPr>
            <a:r>
              <a:rPr lang="en-US" sz="1400" b="1" dirty="0">
                <a:solidFill>
                  <a:srgbClr val="0C6A9D"/>
                </a:solidFill>
                <a:latin typeface="Calibri" pitchFamily="34" charset="0"/>
                <a:ea typeface="Calibri" pitchFamily="34" charset="-122"/>
                <a:cs typeface="Calibri" pitchFamily="34" charset="-120"/>
              </a:rPr>
              <a:t>Test</a:t>
            </a:r>
            <a:endParaRPr lang="en-US" sz="1400" dirty="0"/>
          </a:p>
        </p:txBody>
      </p:sp>
      <p:sp>
        <p:nvSpPr>
          <p:cNvPr id="10" name="Text 7"/>
          <p:cNvSpPr txBox="1"/>
          <p:nvPr/>
        </p:nvSpPr>
        <p:spPr>
          <a:xfrm>
            <a:off x="6355080" y="1161288"/>
            <a:ext cx="2240280" cy="502920"/>
          </a:xfrm>
          <a:prstGeom prst="rect">
            <a:avLst/>
          </a:prstGeom>
          <a:noFill/>
          <a:ln/>
        </p:spPr>
        <p:txBody>
          <a:bodyPr wrap="square" lIns="0" tIns="0" rIns="0" bIns="0" rtlCol="0" anchor="ctr"/>
          <a:lstStyle/>
          <a:p>
            <a:pPr indent="0" marL="0">
              <a:buNone/>
            </a:pPr>
            <a:r>
              <a:rPr lang="en-US" sz="1200" dirty="0">
                <a:solidFill>
                  <a:srgbClr val="52607A"/>
                </a:solidFill>
                <a:latin typeface="Calibri" pitchFamily="34" charset="0"/>
                <a:ea typeface="Calibri" pitchFamily="34" charset="-122"/>
                <a:cs typeface="Calibri" pitchFamily="34" charset="-120"/>
              </a:rPr>
              <a:t>2,584 held-out messages</a:t>
            </a:r>
            <a:endParaRPr lang="en-US" sz="1200" dirty="0"/>
          </a:p>
        </p:txBody>
      </p:sp>
      <p:sp>
        <p:nvSpPr>
          <p:cNvPr id="11" name="set-1"/>
          <p:cNvSpPr/>
          <p:nvPr/>
        </p:nvSpPr>
        <p:spPr>
          <a:xfrm>
            <a:off x="4663440" y="1920240"/>
            <a:ext cx="4023360" cy="731520"/>
          </a:xfrm>
          <a:prstGeom prst="roundRect">
            <a:avLst>
              <a:gd name="adj" fmla="val 15000"/>
            </a:avLst>
          </a:prstGeom>
          <a:solidFill>
            <a:srgbClr val="EEF3F9"/>
          </a:solidFill>
          <a:ln w="12700">
            <a:solidFill>
              <a:srgbClr val="EEF3F9"/>
            </a:solidFill>
            <a:prstDash val="solid"/>
          </a:ln>
        </p:spPr>
      </p:sp>
      <p:sp>
        <p:nvSpPr>
          <p:cNvPr id="12" name="Text 9"/>
          <p:cNvSpPr txBox="1"/>
          <p:nvPr/>
        </p:nvSpPr>
        <p:spPr>
          <a:xfrm>
            <a:off x="4846320" y="2029968"/>
            <a:ext cx="1463040" cy="502920"/>
          </a:xfrm>
          <a:prstGeom prst="rect">
            <a:avLst/>
          </a:prstGeom>
          <a:noFill/>
          <a:ln/>
        </p:spPr>
        <p:txBody>
          <a:bodyPr wrap="square" lIns="0" tIns="0" rIns="0" bIns="0" rtlCol="0" anchor="ctr"/>
          <a:lstStyle/>
          <a:p>
            <a:pPr indent="0" marL="0">
              <a:buNone/>
            </a:pPr>
            <a:r>
              <a:rPr lang="en-US" sz="1400" b="1" dirty="0">
                <a:solidFill>
                  <a:srgbClr val="0C6A9D"/>
                </a:solidFill>
                <a:latin typeface="Calibri" pitchFamily="34" charset="0"/>
                <a:ea typeface="Calibri" pitchFamily="34" charset="-122"/>
                <a:cs typeface="Calibri" pitchFamily="34" charset="-120"/>
              </a:rPr>
              <a:t>Obfuscated test</a:t>
            </a:r>
            <a:endParaRPr lang="en-US" sz="1400" dirty="0"/>
          </a:p>
        </p:txBody>
      </p:sp>
      <p:sp>
        <p:nvSpPr>
          <p:cNvPr id="13" name="Text 10"/>
          <p:cNvSpPr txBox="1"/>
          <p:nvPr/>
        </p:nvSpPr>
        <p:spPr>
          <a:xfrm>
            <a:off x="6355080" y="2029968"/>
            <a:ext cx="2240280" cy="502920"/>
          </a:xfrm>
          <a:prstGeom prst="rect">
            <a:avLst/>
          </a:prstGeom>
          <a:noFill/>
          <a:ln/>
        </p:spPr>
        <p:txBody>
          <a:bodyPr wrap="square" lIns="0" tIns="0" rIns="0" bIns="0" rtlCol="0" anchor="ctr"/>
          <a:lstStyle/>
          <a:p>
            <a:pPr indent="0" marL="0">
              <a:buNone/>
            </a:pPr>
            <a:r>
              <a:rPr lang="en-US" sz="1200" dirty="0">
                <a:solidFill>
                  <a:srgbClr val="52607A"/>
                </a:solidFill>
                <a:latin typeface="Calibri" pitchFamily="34" charset="0"/>
                <a:ea typeface="Calibri" pitchFamily="34" charset="-122"/>
                <a:cs typeface="Calibri" pitchFamily="34" charset="-120"/>
              </a:rPr>
              <a:t>every offensive word disguised (unseen seed)</a:t>
            </a:r>
            <a:endParaRPr lang="en-US" sz="1200" dirty="0"/>
          </a:p>
        </p:txBody>
      </p:sp>
      <p:sp>
        <p:nvSpPr>
          <p:cNvPr id="14" name="set-2"/>
          <p:cNvSpPr/>
          <p:nvPr/>
        </p:nvSpPr>
        <p:spPr>
          <a:xfrm>
            <a:off x="4663440" y="2788920"/>
            <a:ext cx="4023360" cy="731520"/>
          </a:xfrm>
          <a:prstGeom prst="roundRect">
            <a:avLst>
              <a:gd name="adj" fmla="val 15000"/>
            </a:avLst>
          </a:prstGeom>
          <a:solidFill>
            <a:srgbClr val="EEF3F9"/>
          </a:solidFill>
          <a:ln w="12700">
            <a:solidFill>
              <a:srgbClr val="EEF3F9"/>
            </a:solidFill>
            <a:prstDash val="solid"/>
          </a:ln>
        </p:spPr>
      </p:sp>
      <p:sp>
        <p:nvSpPr>
          <p:cNvPr id="15" name="Text 12"/>
          <p:cNvSpPr txBox="1"/>
          <p:nvPr/>
        </p:nvSpPr>
        <p:spPr>
          <a:xfrm>
            <a:off x="4846320" y="2898648"/>
            <a:ext cx="1463040" cy="502920"/>
          </a:xfrm>
          <a:prstGeom prst="rect">
            <a:avLst/>
          </a:prstGeom>
          <a:noFill/>
          <a:ln/>
        </p:spPr>
        <p:txBody>
          <a:bodyPr wrap="square" lIns="0" tIns="0" rIns="0" bIns="0" rtlCol="0" anchor="ctr"/>
          <a:lstStyle/>
          <a:p>
            <a:pPr indent="0" marL="0">
              <a:buNone/>
            </a:pPr>
            <a:r>
              <a:rPr lang="en-US" sz="1400" b="1" dirty="0">
                <a:solidFill>
                  <a:srgbClr val="0C6A9D"/>
                </a:solidFill>
                <a:latin typeface="Calibri" pitchFamily="34" charset="0"/>
                <a:ea typeface="Calibri" pitchFamily="34" charset="-122"/>
                <a:cs typeface="Calibri" pitchFamily="34" charset="-120"/>
              </a:rPr>
              <a:t>Challenge</a:t>
            </a:r>
            <a:endParaRPr lang="en-US" sz="1400" dirty="0"/>
          </a:p>
        </p:txBody>
      </p:sp>
      <p:sp>
        <p:nvSpPr>
          <p:cNvPr id="16" name="Text 13"/>
          <p:cNvSpPr txBox="1"/>
          <p:nvPr/>
        </p:nvSpPr>
        <p:spPr>
          <a:xfrm>
            <a:off x="6355080" y="2898648"/>
            <a:ext cx="2240280" cy="502920"/>
          </a:xfrm>
          <a:prstGeom prst="rect">
            <a:avLst/>
          </a:prstGeom>
          <a:noFill/>
          <a:ln/>
        </p:spPr>
        <p:txBody>
          <a:bodyPr wrap="square" lIns="0" tIns="0" rIns="0" bIns="0" rtlCol="0" anchor="ctr"/>
          <a:lstStyle/>
          <a:p>
            <a:pPr indent="0" marL="0">
              <a:buNone/>
            </a:pPr>
            <a:r>
              <a:rPr lang="en-US" sz="1200" dirty="0">
                <a:solidFill>
                  <a:srgbClr val="52607A"/>
                </a:solidFill>
                <a:latin typeface="Calibri" pitchFamily="34" charset="0"/>
                <a:ea typeface="Calibri" pitchFamily="34" charset="-122"/>
                <a:cs typeface="Calibri" pitchFamily="34" charset="-120"/>
              </a:rPr>
              <a:t>78 hand-written sentences: threats, sexism, tricky clean text</a:t>
            </a:r>
            <a:endParaRPr lang="en-US" sz="1200" dirty="0"/>
          </a:p>
        </p:txBody>
      </p:sp>
      <p:sp>
        <p:nvSpPr>
          <p:cNvPr id="17" name="set-3"/>
          <p:cNvSpPr/>
          <p:nvPr/>
        </p:nvSpPr>
        <p:spPr>
          <a:xfrm>
            <a:off x="4663440" y="3657600"/>
            <a:ext cx="4023360" cy="731520"/>
          </a:xfrm>
          <a:prstGeom prst="roundRect">
            <a:avLst>
              <a:gd name="adj" fmla="val 15000"/>
            </a:avLst>
          </a:prstGeom>
          <a:solidFill>
            <a:srgbClr val="EEF3F9"/>
          </a:solidFill>
          <a:ln w="12700">
            <a:solidFill>
              <a:srgbClr val="EEF3F9"/>
            </a:solidFill>
            <a:prstDash val="solid"/>
          </a:ln>
        </p:spPr>
      </p:sp>
      <p:sp>
        <p:nvSpPr>
          <p:cNvPr id="18" name="Text 15"/>
          <p:cNvSpPr txBox="1"/>
          <p:nvPr/>
        </p:nvSpPr>
        <p:spPr>
          <a:xfrm>
            <a:off x="4846320" y="3767328"/>
            <a:ext cx="1463040" cy="502920"/>
          </a:xfrm>
          <a:prstGeom prst="rect">
            <a:avLst/>
          </a:prstGeom>
          <a:noFill/>
          <a:ln/>
        </p:spPr>
        <p:txBody>
          <a:bodyPr wrap="square" lIns="0" tIns="0" rIns="0" bIns="0" rtlCol="0" anchor="ctr"/>
          <a:lstStyle/>
          <a:p>
            <a:pPr indent="0" marL="0">
              <a:buNone/>
            </a:pPr>
            <a:r>
              <a:rPr lang="en-US" sz="1400" b="1" dirty="0">
                <a:solidFill>
                  <a:srgbClr val="0C6A9D"/>
                </a:solidFill>
                <a:latin typeface="Calibri" pitchFamily="34" charset="0"/>
                <a:ea typeface="Calibri" pitchFamily="34" charset="-122"/>
                <a:cs typeface="Calibri" pitchFamily="34" charset="-120"/>
              </a:rPr>
              <a:t>Ablation</a:t>
            </a:r>
            <a:endParaRPr lang="en-US" sz="1400" dirty="0"/>
          </a:p>
        </p:txBody>
      </p:sp>
      <p:sp>
        <p:nvSpPr>
          <p:cNvPr id="19" name="Text 16"/>
          <p:cNvSpPr txBox="1"/>
          <p:nvPr/>
        </p:nvSpPr>
        <p:spPr>
          <a:xfrm>
            <a:off x="6355080" y="3767328"/>
            <a:ext cx="2240280" cy="502920"/>
          </a:xfrm>
          <a:prstGeom prst="rect">
            <a:avLst/>
          </a:prstGeom>
          <a:noFill/>
          <a:ln/>
        </p:spPr>
        <p:txBody>
          <a:bodyPr wrap="square" lIns="0" tIns="0" rIns="0" bIns="0" rtlCol="0" anchor="ctr"/>
          <a:lstStyle/>
          <a:p>
            <a:pPr indent="0" marL="0">
              <a:buNone/>
            </a:pPr>
            <a:r>
              <a:rPr lang="en-US" sz="1200" dirty="0">
                <a:solidFill>
                  <a:srgbClr val="52607A"/>
                </a:solidFill>
                <a:latin typeface="Calibri" pitchFamily="34" charset="0"/>
                <a:ea typeface="Calibri" pitchFamily="34" charset="-122"/>
                <a:cs typeface="Calibri" pitchFamily="34" charset="-120"/>
              </a:rPr>
              <a:t>normaliser × augmentation</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2607A"/>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94360"/>
          </a:xfrm>
          <a:prstGeom prst="rect">
            <a:avLst/>
          </a:prstGeom>
          <a:noFill/>
          <a:ln/>
        </p:spPr>
        <p:txBody>
          <a:bodyPr wrap="square" lIns="0" tIns="0" rIns="0" bIns="0" rtlCol="0" anchor="ctr"/>
          <a:lstStyle/>
          <a:p>
            <a:pPr algn="l" indent="0" marL="0">
              <a:buNone/>
            </a:pPr>
            <a:r>
              <a:rPr lang="en-US" sz="2800" b="1" dirty="0">
                <a:solidFill>
                  <a:srgbClr val="0C2547"/>
                </a:solidFill>
                <a:latin typeface="Cambria" pitchFamily="34" charset="0"/>
                <a:ea typeface="Cambria" pitchFamily="34" charset="-122"/>
                <a:cs typeface="Cambria" pitchFamily="34" charset="-120"/>
              </a:rPr>
              <a:t>Three models, one interface</a:t>
            </a:r>
            <a:endParaRPr lang="en-US" sz="2800" dirty="0"/>
          </a:p>
        </p:txBody>
      </p:sp>
      <p:sp>
        <p:nvSpPr>
          <p:cNvPr id="3" name="model-0"/>
          <p:cNvSpPr/>
          <p:nvPr/>
        </p:nvSpPr>
        <p:spPr>
          <a:xfrm>
            <a:off x="457200" y="1051560"/>
            <a:ext cx="2606040" cy="2743200"/>
          </a:xfrm>
          <a:prstGeom prst="roundRect">
            <a:avLst>
              <a:gd name="adj" fmla="val 4211"/>
            </a:avLst>
          </a:prstGeom>
          <a:solidFill>
            <a:srgbClr val="EEF3F9"/>
          </a:solidFill>
          <a:ln w="12700">
            <a:solidFill>
              <a:srgbClr val="EEF3F9"/>
            </a:solidFill>
            <a:prstDash val="solid"/>
          </a:ln>
        </p:spPr>
      </p:sp>
      <p:pic>
        <p:nvPicPr>
          <p:cNvPr id="4" name="Image 0" descr="preencoded.png">    </p:cNvPr>
          <p:cNvPicPr>
            <a:picLocks noChangeAspect="1"/>
          </p:cNvPicPr>
          <p:nvPr/>
        </p:nvPicPr>
        <p:blipFill>
          <a:blip r:embed="rId1"/>
          <a:stretch>
            <a:fillRect/>
          </a:stretch>
        </p:blipFill>
        <p:spPr>
          <a:xfrm>
            <a:off x="685800" y="1261872"/>
            <a:ext cx="457200" cy="457200"/>
          </a:xfrm>
          <a:prstGeom prst="rect">
            <a:avLst/>
          </a:prstGeom>
        </p:spPr>
      </p:pic>
      <p:sp>
        <p:nvSpPr>
          <p:cNvPr id="5" name="Text 2"/>
          <p:cNvSpPr txBox="1"/>
          <p:nvPr/>
        </p:nvSpPr>
        <p:spPr>
          <a:xfrm>
            <a:off x="685800" y="1828800"/>
            <a:ext cx="2240280" cy="365760"/>
          </a:xfrm>
          <a:prstGeom prst="rect">
            <a:avLst/>
          </a:prstGeom>
          <a:noFill/>
          <a:ln/>
        </p:spPr>
        <p:txBody>
          <a:bodyPr wrap="square" lIns="0" tIns="0" rIns="0" bIns="0" rtlCol="0" anchor="t"/>
          <a:lstStyle/>
          <a:p>
            <a:pPr indent="0" marL="0">
              <a:buNone/>
            </a:pPr>
            <a:r>
              <a:rPr lang="en-US" sz="1600" b="1" dirty="0">
                <a:solidFill>
                  <a:srgbClr val="0C2547"/>
                </a:solidFill>
                <a:latin typeface="Calibri" pitchFamily="34" charset="0"/>
                <a:ea typeface="Calibri" pitchFamily="34" charset="-122"/>
                <a:cs typeface="Calibri" pitchFamily="34" charset="-120"/>
              </a:rPr>
              <a:t>TF-IDF + LogReg</a:t>
            </a:r>
            <a:endParaRPr lang="en-US" sz="1600" dirty="0"/>
          </a:p>
        </p:txBody>
      </p:sp>
      <p:sp>
        <p:nvSpPr>
          <p:cNvPr id="6" name="Text 3"/>
          <p:cNvSpPr txBox="1"/>
          <p:nvPr/>
        </p:nvSpPr>
        <p:spPr>
          <a:xfrm>
            <a:off x="685800" y="2194560"/>
            <a:ext cx="2240280" cy="320040"/>
          </a:xfrm>
          <a:prstGeom prst="rect">
            <a:avLst/>
          </a:prstGeom>
          <a:noFill/>
          <a:ln/>
        </p:spPr>
        <p:txBody>
          <a:bodyPr wrap="square" lIns="0" tIns="0" rIns="0" bIns="0" rtlCol="0" anchor="t"/>
          <a:lstStyle/>
          <a:p>
            <a:pPr indent="0" marL="0">
              <a:buNone/>
            </a:pPr>
            <a:r>
              <a:rPr lang="en-US" sz="1200" i="1" dirty="0">
                <a:solidFill>
                  <a:srgbClr val="0C6A9D"/>
                </a:solidFill>
                <a:latin typeface="Calibri" pitchFamily="34" charset="0"/>
                <a:ea typeface="Calibri" pitchFamily="34" charset="-122"/>
                <a:cs typeface="Calibri" pitchFamily="34" charset="-120"/>
              </a:rPr>
              <a:t>Baseline</a:t>
            </a:r>
            <a:endParaRPr lang="en-US" sz="1200" dirty="0"/>
          </a:p>
        </p:txBody>
      </p:sp>
      <p:sp>
        <p:nvSpPr>
          <p:cNvPr id="7" name="Text 4"/>
          <p:cNvSpPr txBox="1"/>
          <p:nvPr/>
        </p:nvSpPr>
        <p:spPr>
          <a:xfrm>
            <a:off x="685800" y="2560320"/>
            <a:ext cx="2240280" cy="777240"/>
          </a:xfrm>
          <a:prstGeom prst="rect">
            <a:avLst/>
          </a:prstGeom>
          <a:noFill/>
          <a:ln/>
        </p:spPr>
        <p:txBody>
          <a:bodyPr wrap="square" lIns="0" tIns="0" rIns="0" bIns="0" rtlCol="0" anchor="t"/>
          <a:lstStyle/>
          <a:p>
            <a:pPr indent="0" marL="0">
              <a:buNone/>
            </a:pPr>
            <a:r>
              <a:rPr lang="en-US" sz="1200" dirty="0">
                <a:solidFill>
                  <a:srgbClr val="52607A"/>
                </a:solidFill>
                <a:latin typeface="Calibri" pitchFamily="34" charset="0"/>
                <a:ea typeface="Calibri" pitchFamily="34" charset="-122"/>
                <a:cs typeface="Calibri" pitchFamily="34" charset="-120"/>
              </a:rPr>
              <a:t>word 1-2-grams + character 2-5-grams</a:t>
            </a:r>
            <a:endParaRPr lang="en-US" sz="1200" dirty="0"/>
          </a:p>
        </p:txBody>
      </p:sp>
      <p:sp>
        <p:nvSpPr>
          <p:cNvPr id="8" name="Text 5"/>
          <p:cNvSpPr txBox="1"/>
          <p:nvPr/>
        </p:nvSpPr>
        <p:spPr>
          <a:xfrm>
            <a:off x="685800" y="3337560"/>
            <a:ext cx="2240280" cy="320040"/>
          </a:xfrm>
          <a:prstGeom prst="rect">
            <a:avLst/>
          </a:prstGeom>
          <a:noFill/>
          <a:ln/>
        </p:spPr>
        <p:txBody>
          <a:bodyPr wrap="square" lIns="0" tIns="0" rIns="0" bIns="0" rtlCol="0" anchor="t"/>
          <a:lstStyle/>
          <a:p>
            <a:pPr indent="0" marL="0">
              <a:buNone/>
            </a:pPr>
            <a:r>
              <a:rPr lang="en-US" sz="1200" b="1" dirty="0">
                <a:solidFill>
                  <a:srgbClr val="52607A"/>
                </a:solidFill>
                <a:latin typeface="Calibri" pitchFamily="34" charset="0"/>
                <a:ea typeface="Calibri" pitchFamily="34" charset="-122"/>
                <a:cs typeface="Calibri" pitchFamily="34" charset="-120"/>
              </a:rPr>
              <a:t>25 s training</a:t>
            </a:r>
            <a:endParaRPr lang="en-US" sz="1200" dirty="0"/>
          </a:p>
        </p:txBody>
      </p:sp>
      <p:sp>
        <p:nvSpPr>
          <p:cNvPr id="9" name="model-1"/>
          <p:cNvSpPr/>
          <p:nvPr/>
        </p:nvSpPr>
        <p:spPr>
          <a:xfrm>
            <a:off x="3246120" y="1051560"/>
            <a:ext cx="2606040" cy="2743200"/>
          </a:xfrm>
          <a:prstGeom prst="roundRect">
            <a:avLst>
              <a:gd name="adj" fmla="val 4211"/>
            </a:avLst>
          </a:prstGeom>
          <a:solidFill>
            <a:srgbClr val="EEF3F9"/>
          </a:solidFill>
          <a:ln w="12700">
            <a:solidFill>
              <a:srgbClr val="EEF3F9"/>
            </a:solidFill>
            <a:prstDash val="solid"/>
          </a:ln>
        </p:spPr>
      </p:sp>
      <p:pic>
        <p:nvPicPr>
          <p:cNvPr id="10" name="Image 1" descr="preencoded.png">    </p:cNvPr>
          <p:cNvPicPr>
            <a:picLocks noChangeAspect="1"/>
          </p:cNvPicPr>
          <p:nvPr/>
        </p:nvPicPr>
        <p:blipFill>
          <a:blip r:embed="rId2"/>
          <a:stretch>
            <a:fillRect/>
          </a:stretch>
        </p:blipFill>
        <p:spPr>
          <a:xfrm>
            <a:off x="3474720" y="1261872"/>
            <a:ext cx="457200" cy="457200"/>
          </a:xfrm>
          <a:prstGeom prst="rect">
            <a:avLst/>
          </a:prstGeom>
        </p:spPr>
      </p:pic>
      <p:sp>
        <p:nvSpPr>
          <p:cNvPr id="11" name="Text 7"/>
          <p:cNvSpPr txBox="1"/>
          <p:nvPr/>
        </p:nvSpPr>
        <p:spPr>
          <a:xfrm>
            <a:off x="3474720" y="1828800"/>
            <a:ext cx="2240280" cy="365760"/>
          </a:xfrm>
          <a:prstGeom prst="rect">
            <a:avLst/>
          </a:prstGeom>
          <a:noFill/>
          <a:ln/>
        </p:spPr>
        <p:txBody>
          <a:bodyPr wrap="square" lIns="0" tIns="0" rIns="0" bIns="0" rtlCol="0" anchor="t"/>
          <a:lstStyle/>
          <a:p>
            <a:pPr indent="0" marL="0">
              <a:buNone/>
            </a:pPr>
            <a:r>
              <a:rPr lang="en-US" sz="1600" b="1" dirty="0">
                <a:solidFill>
                  <a:srgbClr val="0C2547"/>
                </a:solidFill>
                <a:latin typeface="Calibri" pitchFamily="34" charset="0"/>
                <a:ea typeface="Calibri" pitchFamily="34" charset="-122"/>
                <a:cs typeface="Calibri" pitchFamily="34" charset="-120"/>
              </a:rPr>
              <a:t>BiLSTM + Attention</a:t>
            </a:r>
            <a:endParaRPr lang="en-US" sz="1600" dirty="0"/>
          </a:p>
        </p:txBody>
      </p:sp>
      <p:sp>
        <p:nvSpPr>
          <p:cNvPr id="12" name="Text 8"/>
          <p:cNvSpPr txBox="1"/>
          <p:nvPr/>
        </p:nvSpPr>
        <p:spPr>
          <a:xfrm>
            <a:off x="3474720" y="2194560"/>
            <a:ext cx="2240280" cy="320040"/>
          </a:xfrm>
          <a:prstGeom prst="rect">
            <a:avLst/>
          </a:prstGeom>
          <a:noFill/>
          <a:ln/>
        </p:spPr>
        <p:txBody>
          <a:bodyPr wrap="square" lIns="0" tIns="0" rIns="0" bIns="0" rtlCol="0" anchor="t"/>
          <a:lstStyle/>
          <a:p>
            <a:pPr indent="0" marL="0">
              <a:buNone/>
            </a:pPr>
            <a:r>
              <a:rPr lang="en-US" sz="1200" i="1" dirty="0">
                <a:solidFill>
                  <a:srgbClr val="0C6A9D"/>
                </a:solidFill>
                <a:latin typeface="Calibri" pitchFamily="34" charset="0"/>
                <a:ea typeface="Calibri" pitchFamily="34" charset="-122"/>
                <a:cs typeface="Calibri" pitchFamily="34" charset="-120"/>
              </a:rPr>
              <a:t>Deep learning from scratch</a:t>
            </a:r>
            <a:endParaRPr lang="en-US" sz="1200" dirty="0"/>
          </a:p>
        </p:txBody>
      </p:sp>
      <p:sp>
        <p:nvSpPr>
          <p:cNvPr id="13" name="Text 9"/>
          <p:cNvSpPr txBox="1"/>
          <p:nvPr/>
        </p:nvSpPr>
        <p:spPr>
          <a:xfrm>
            <a:off x="3474720" y="2560320"/>
            <a:ext cx="2240280" cy="777240"/>
          </a:xfrm>
          <a:prstGeom prst="rect">
            <a:avLst/>
          </a:prstGeom>
          <a:noFill/>
          <a:ln/>
        </p:spPr>
        <p:txBody>
          <a:bodyPr wrap="square" lIns="0" tIns="0" rIns="0" bIns="0" rtlCol="0" anchor="t"/>
          <a:lstStyle/>
          <a:p>
            <a:pPr indent="0" marL="0">
              <a:buNone/>
            </a:pPr>
            <a:r>
              <a:rPr lang="en-US" sz="1200" dirty="0">
                <a:solidFill>
                  <a:srgbClr val="52607A"/>
                </a:solidFill>
                <a:latin typeface="Calibri" pitchFamily="34" charset="0"/>
                <a:ea typeface="Calibri" pitchFamily="34" charset="-122"/>
                <a:cs typeface="Calibri" pitchFamily="34" charset="-120"/>
              </a:rPr>
              <a:t>embeddings → BiLSTM → additive attention · 7.2 M params</a:t>
            </a:r>
            <a:endParaRPr lang="en-US" sz="1200" dirty="0"/>
          </a:p>
        </p:txBody>
      </p:sp>
      <p:sp>
        <p:nvSpPr>
          <p:cNvPr id="14" name="Text 10"/>
          <p:cNvSpPr txBox="1"/>
          <p:nvPr/>
        </p:nvSpPr>
        <p:spPr>
          <a:xfrm>
            <a:off x="3474720" y="3337560"/>
            <a:ext cx="2240280" cy="320040"/>
          </a:xfrm>
          <a:prstGeom prst="rect">
            <a:avLst/>
          </a:prstGeom>
          <a:noFill/>
          <a:ln/>
        </p:spPr>
        <p:txBody>
          <a:bodyPr wrap="square" lIns="0" tIns="0" rIns="0" bIns="0" rtlCol="0" anchor="t"/>
          <a:lstStyle/>
          <a:p>
            <a:pPr indent="0" marL="0">
              <a:buNone/>
            </a:pPr>
            <a:r>
              <a:rPr lang="en-US" sz="1200" b="1" dirty="0">
                <a:solidFill>
                  <a:srgbClr val="52607A"/>
                </a:solidFill>
                <a:latin typeface="Calibri" pitchFamily="34" charset="0"/>
                <a:ea typeface="Calibri" pitchFamily="34" charset="-122"/>
                <a:cs typeface="Calibri" pitchFamily="34" charset="-120"/>
              </a:rPr>
              <a:t>49 s training</a:t>
            </a:r>
            <a:endParaRPr lang="en-US" sz="1200" dirty="0"/>
          </a:p>
        </p:txBody>
      </p:sp>
      <p:sp>
        <p:nvSpPr>
          <p:cNvPr id="15" name="model-2"/>
          <p:cNvSpPr/>
          <p:nvPr/>
        </p:nvSpPr>
        <p:spPr>
          <a:xfrm>
            <a:off x="6035040" y="1051560"/>
            <a:ext cx="2606040" cy="2743200"/>
          </a:xfrm>
          <a:prstGeom prst="roundRect">
            <a:avLst>
              <a:gd name="adj" fmla="val 4211"/>
            </a:avLst>
          </a:prstGeom>
          <a:solidFill>
            <a:srgbClr val="E3F5EC"/>
          </a:solidFill>
          <a:ln w="12700">
            <a:solidFill>
              <a:srgbClr val="E3F5EC"/>
            </a:solidFill>
            <a:prstDash val="solid"/>
          </a:ln>
        </p:spPr>
      </p:sp>
      <p:pic>
        <p:nvPicPr>
          <p:cNvPr id="16" name="Image 2" descr="preencoded.png">    </p:cNvPr>
          <p:cNvPicPr>
            <a:picLocks noChangeAspect="1"/>
          </p:cNvPicPr>
          <p:nvPr/>
        </p:nvPicPr>
        <p:blipFill>
          <a:blip r:embed="rId3"/>
          <a:stretch>
            <a:fillRect/>
          </a:stretch>
        </p:blipFill>
        <p:spPr>
          <a:xfrm>
            <a:off x="6263640" y="1261872"/>
            <a:ext cx="457200" cy="457200"/>
          </a:xfrm>
          <a:prstGeom prst="rect">
            <a:avLst/>
          </a:prstGeom>
        </p:spPr>
      </p:pic>
      <p:sp>
        <p:nvSpPr>
          <p:cNvPr id="17" name="Text 12"/>
          <p:cNvSpPr txBox="1"/>
          <p:nvPr/>
        </p:nvSpPr>
        <p:spPr>
          <a:xfrm>
            <a:off x="6263640" y="1828800"/>
            <a:ext cx="2240280" cy="365760"/>
          </a:xfrm>
          <a:prstGeom prst="rect">
            <a:avLst/>
          </a:prstGeom>
          <a:noFill/>
          <a:ln/>
        </p:spPr>
        <p:txBody>
          <a:bodyPr wrap="square" lIns="0" tIns="0" rIns="0" bIns="0" rtlCol="0" anchor="t"/>
          <a:lstStyle/>
          <a:p>
            <a:pPr indent="0" marL="0">
              <a:buNone/>
            </a:pPr>
            <a:r>
              <a:rPr lang="en-US" sz="1600" b="1" dirty="0">
                <a:solidFill>
                  <a:srgbClr val="0C2547"/>
                </a:solidFill>
                <a:latin typeface="Calibri" pitchFamily="34" charset="0"/>
                <a:ea typeface="Calibri" pitchFamily="34" charset="-122"/>
                <a:cs typeface="Calibri" pitchFamily="34" charset="-120"/>
              </a:rPr>
              <a:t>DistilRoBERTa</a:t>
            </a:r>
            <a:endParaRPr lang="en-US" sz="1600" dirty="0"/>
          </a:p>
        </p:txBody>
      </p:sp>
      <p:sp>
        <p:nvSpPr>
          <p:cNvPr id="18" name="Text 13"/>
          <p:cNvSpPr txBox="1"/>
          <p:nvPr/>
        </p:nvSpPr>
        <p:spPr>
          <a:xfrm>
            <a:off x="6263640" y="2194560"/>
            <a:ext cx="2240280" cy="320040"/>
          </a:xfrm>
          <a:prstGeom prst="rect">
            <a:avLst/>
          </a:prstGeom>
          <a:noFill/>
          <a:ln/>
        </p:spPr>
        <p:txBody>
          <a:bodyPr wrap="square" lIns="0" tIns="0" rIns="0" bIns="0" rtlCol="0" anchor="t"/>
          <a:lstStyle/>
          <a:p>
            <a:pPr indent="0" marL="0">
              <a:buNone/>
            </a:pPr>
            <a:r>
              <a:rPr lang="en-US" sz="1200" i="1" dirty="0">
                <a:solidFill>
                  <a:srgbClr val="0C6A9D"/>
                </a:solidFill>
                <a:latin typeface="Calibri" pitchFamily="34" charset="0"/>
                <a:ea typeface="Calibri" pitchFamily="34" charset="-122"/>
                <a:cs typeface="Calibri" pitchFamily="34" charset="-120"/>
              </a:rPr>
              <a:t>Fine-tuned Transformer (deployed)</a:t>
            </a:r>
            <a:endParaRPr lang="en-US" sz="1200" dirty="0"/>
          </a:p>
        </p:txBody>
      </p:sp>
      <p:sp>
        <p:nvSpPr>
          <p:cNvPr id="19" name="Text 14"/>
          <p:cNvSpPr txBox="1"/>
          <p:nvPr/>
        </p:nvSpPr>
        <p:spPr>
          <a:xfrm>
            <a:off x="6263640" y="2560320"/>
            <a:ext cx="2240280" cy="777240"/>
          </a:xfrm>
          <a:prstGeom prst="rect">
            <a:avLst/>
          </a:prstGeom>
          <a:noFill/>
          <a:ln/>
        </p:spPr>
        <p:txBody>
          <a:bodyPr wrap="square" lIns="0" tIns="0" rIns="0" bIns="0" rtlCol="0" anchor="t"/>
          <a:lstStyle/>
          <a:p>
            <a:pPr indent="0" marL="0">
              <a:buNone/>
            </a:pPr>
            <a:r>
              <a:rPr lang="en-US" sz="1200" dirty="0">
                <a:solidFill>
                  <a:srgbClr val="52607A"/>
                </a:solidFill>
                <a:latin typeface="Calibri" pitchFamily="34" charset="0"/>
                <a:ea typeface="Calibri" pitchFamily="34" charset="-122"/>
                <a:cs typeface="Calibri" pitchFamily="34" charset="-120"/>
              </a:rPr>
              <a:t>6-layer self-attention, byte-level BPE · 82 M params</a:t>
            </a:r>
            <a:endParaRPr lang="en-US" sz="1200" dirty="0"/>
          </a:p>
        </p:txBody>
      </p:sp>
      <p:sp>
        <p:nvSpPr>
          <p:cNvPr id="20" name="Text 15"/>
          <p:cNvSpPr txBox="1"/>
          <p:nvPr/>
        </p:nvSpPr>
        <p:spPr>
          <a:xfrm>
            <a:off x="6263640" y="3337560"/>
            <a:ext cx="2240280" cy="320040"/>
          </a:xfrm>
          <a:prstGeom prst="rect">
            <a:avLst/>
          </a:prstGeom>
          <a:noFill/>
          <a:ln/>
        </p:spPr>
        <p:txBody>
          <a:bodyPr wrap="square" lIns="0" tIns="0" rIns="0" bIns="0" rtlCol="0" anchor="t"/>
          <a:lstStyle/>
          <a:p>
            <a:pPr indent="0" marL="0">
              <a:buNone/>
            </a:pPr>
            <a:r>
              <a:rPr lang="en-US" sz="1200" b="1" dirty="0">
                <a:solidFill>
                  <a:srgbClr val="52607A"/>
                </a:solidFill>
                <a:latin typeface="Calibri" pitchFamily="34" charset="0"/>
                <a:ea typeface="Calibri" pitchFamily="34" charset="-122"/>
                <a:cs typeface="Calibri" pitchFamily="34" charset="-120"/>
              </a:rPr>
              <a:t>7 min on RTX 4060</a:t>
            </a:r>
            <a:endParaRPr lang="en-US" sz="1200" dirty="0"/>
          </a:p>
        </p:txBody>
      </p:sp>
      <p:sp>
        <p:nvSpPr>
          <p:cNvPr id="21" name="Text 16"/>
          <p:cNvSpPr txBox="1"/>
          <p:nvPr/>
        </p:nvSpPr>
        <p:spPr>
          <a:xfrm>
            <a:off x="457200" y="4023360"/>
            <a:ext cx="8229600" cy="457200"/>
          </a:xfrm>
          <a:prstGeom prst="rect">
            <a:avLst/>
          </a:prstGeom>
          <a:noFill/>
          <a:ln/>
        </p:spPr>
        <p:txBody>
          <a:bodyPr wrap="square" lIns="0" tIns="0" rIns="0" bIns="0" rtlCol="0" anchor="t"/>
          <a:lstStyle/>
          <a:p>
            <a:pPr indent="0" marL="0">
              <a:buNone/>
            </a:pPr>
            <a:r>
              <a:rPr lang="en-US" sz="1300" dirty="0">
                <a:solidFill>
                  <a:srgbClr val="0C2547"/>
                </a:solidFill>
                <a:latin typeface="Calibri" pitchFamily="34" charset="0"/>
                <a:ea typeface="Calibri" pitchFamily="34" charset="-122"/>
                <a:cs typeface="Calibri" pitchFamily="34" charset="-120"/>
              </a:rPr>
              <a:t>Shared training loop: BCE loss · AdamW · warm-up · fp16 · gradient clipping · early stopping · threshold tuned on validation</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2607A"/>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94360"/>
          </a:xfrm>
          <a:prstGeom prst="rect">
            <a:avLst/>
          </a:prstGeom>
          <a:noFill/>
          <a:ln/>
        </p:spPr>
        <p:txBody>
          <a:bodyPr wrap="square" lIns="0" tIns="0" rIns="0" bIns="0" rtlCol="0" anchor="ctr"/>
          <a:lstStyle/>
          <a:p>
            <a:pPr algn="l" indent="0" marL="0">
              <a:buNone/>
            </a:pPr>
            <a:r>
              <a:rPr lang="en-US" sz="2800" b="1" dirty="0">
                <a:solidFill>
                  <a:srgbClr val="0C2547"/>
                </a:solidFill>
                <a:latin typeface="Cambria" pitchFamily="34" charset="0"/>
                <a:ea typeface="Cambria" pitchFamily="34" charset="-122"/>
                <a:cs typeface="Cambria" pitchFamily="34" charset="-120"/>
              </a:rPr>
              <a:t>Training: early stopping against noisy labels</a:t>
            </a:r>
            <a:endParaRPr lang="en-US" sz="2800" dirty="0"/>
          </a:p>
        </p:txBody>
      </p:sp>
      <p:pic>
        <p:nvPicPr>
          <p:cNvPr id="3" name="Image 0" descr="C:\Users\User\Documents\projects a faire\sightector\docs\figures\learning_curves.png">    </p:cNvPr>
          <p:cNvPicPr>
            <a:picLocks noChangeAspect="1"/>
          </p:cNvPicPr>
          <p:nvPr/>
        </p:nvPicPr>
        <p:blipFill>
          <a:blip r:embed="rId1"/>
          <a:stretch>
            <a:fillRect/>
          </a:stretch>
        </p:blipFill>
        <p:spPr>
          <a:xfrm>
            <a:off x="960120" y="914400"/>
            <a:ext cx="7223760" cy="2734056"/>
          </a:xfrm>
          <a:prstGeom prst="rect">
            <a:avLst/>
          </a:prstGeom>
        </p:spPr>
      </p:pic>
      <p:sp>
        <p:nvSpPr>
          <p:cNvPr id="4" name="Text 1"/>
          <p:cNvSpPr txBox="1"/>
          <p:nvPr/>
        </p:nvSpPr>
        <p:spPr>
          <a:xfrm>
            <a:off x="457200" y="3794760"/>
            <a:ext cx="2606040" cy="274320"/>
          </a:xfrm>
          <a:prstGeom prst="rect">
            <a:avLst/>
          </a:prstGeom>
          <a:noFill/>
          <a:ln/>
        </p:spPr>
        <p:txBody>
          <a:bodyPr wrap="square" lIns="0" tIns="0" rIns="0" bIns="0" rtlCol="0" anchor="t"/>
          <a:lstStyle/>
          <a:p>
            <a:pPr indent="0" marL="0">
              <a:buNone/>
            </a:pPr>
            <a:r>
              <a:rPr lang="en-US" sz="1400" b="1" dirty="0">
                <a:solidFill>
                  <a:srgbClr val="0C6A9D"/>
                </a:solidFill>
                <a:latin typeface="Calibri" pitchFamily="34" charset="0"/>
                <a:ea typeface="Calibri" pitchFamily="34" charset="-122"/>
                <a:cs typeface="Calibri" pitchFamily="34" charset="-120"/>
              </a:rPr>
              <a:t>Overfits early</a:t>
            </a:r>
            <a:endParaRPr lang="en-US" sz="1400" dirty="0"/>
          </a:p>
        </p:txBody>
      </p:sp>
      <p:sp>
        <p:nvSpPr>
          <p:cNvPr id="5" name="Text 2"/>
          <p:cNvSpPr txBox="1"/>
          <p:nvPr/>
        </p:nvSpPr>
        <p:spPr>
          <a:xfrm>
            <a:off x="457200" y="4087368"/>
            <a:ext cx="2606040" cy="548640"/>
          </a:xfrm>
          <a:prstGeom prst="rect">
            <a:avLst/>
          </a:prstGeom>
          <a:noFill/>
          <a:ln/>
        </p:spPr>
        <p:txBody>
          <a:bodyPr wrap="square" lIns="0" tIns="0" rIns="0" bIns="0" rtlCol="0" anchor="t"/>
          <a:lstStyle/>
          <a:p>
            <a:pPr indent="0" marL="0">
              <a:buNone/>
            </a:pPr>
            <a:r>
              <a:rPr lang="en-US" sz="1200" dirty="0">
                <a:solidFill>
                  <a:srgbClr val="52607A"/>
                </a:solidFill>
                <a:latin typeface="Calibri" pitchFamily="34" charset="0"/>
                <a:ea typeface="Calibri" pitchFamily="34" charset="-122"/>
                <a:cs typeface="Calibri" pitchFamily="34" charset="-120"/>
              </a:rPr>
              <a:t>validation loss rises after epoch 1 (Transformer) and epoch 4 (BiLSTM)</a:t>
            </a:r>
            <a:endParaRPr lang="en-US" sz="1200" dirty="0"/>
          </a:p>
        </p:txBody>
      </p:sp>
      <p:sp>
        <p:nvSpPr>
          <p:cNvPr id="6" name="Text 3"/>
          <p:cNvSpPr txBox="1"/>
          <p:nvPr/>
        </p:nvSpPr>
        <p:spPr>
          <a:xfrm>
            <a:off x="3246120" y="3794760"/>
            <a:ext cx="2606040" cy="274320"/>
          </a:xfrm>
          <a:prstGeom prst="rect">
            <a:avLst/>
          </a:prstGeom>
          <a:noFill/>
          <a:ln/>
        </p:spPr>
        <p:txBody>
          <a:bodyPr wrap="square" lIns="0" tIns="0" rIns="0" bIns="0" rtlCol="0" anchor="t"/>
          <a:lstStyle/>
          <a:p>
            <a:pPr indent="0" marL="0">
              <a:buNone/>
            </a:pPr>
            <a:r>
              <a:rPr lang="en-US" sz="1400" b="1" dirty="0">
                <a:solidFill>
                  <a:srgbClr val="CC163F"/>
                </a:solidFill>
                <a:latin typeface="Calibri" pitchFamily="34" charset="0"/>
                <a:ea typeface="Calibri" pitchFamily="34" charset="-122"/>
                <a:cs typeface="Calibri" pitchFamily="34" charset="-120"/>
              </a:rPr>
              <a:t>Why</a:t>
            </a:r>
            <a:endParaRPr lang="en-US" sz="1400" dirty="0"/>
          </a:p>
        </p:txBody>
      </p:sp>
      <p:sp>
        <p:nvSpPr>
          <p:cNvPr id="7" name="Text 4"/>
          <p:cNvSpPr txBox="1"/>
          <p:nvPr/>
        </p:nvSpPr>
        <p:spPr>
          <a:xfrm>
            <a:off x="3246120" y="4087368"/>
            <a:ext cx="2606040" cy="548640"/>
          </a:xfrm>
          <a:prstGeom prst="rect">
            <a:avLst/>
          </a:prstGeom>
          <a:noFill/>
          <a:ln/>
        </p:spPr>
        <p:txBody>
          <a:bodyPr wrap="square" lIns="0" tIns="0" rIns="0" bIns="0" rtlCol="0" anchor="t"/>
          <a:lstStyle/>
          <a:p>
            <a:pPr indent="0" marL="0">
              <a:buNone/>
            </a:pPr>
            <a:r>
              <a:rPr lang="en-US" sz="1200" dirty="0">
                <a:solidFill>
                  <a:srgbClr val="52607A"/>
                </a:solidFill>
                <a:latin typeface="Calibri" pitchFamily="34" charset="0"/>
                <a:ea typeface="Calibri" pitchFamily="34" charset="-122"/>
                <a:cs typeface="Calibri" pitchFamily="34" charset="-120"/>
              </a:rPr>
              <a:t>label noise in the source data (see error analysis)</a:t>
            </a:r>
            <a:endParaRPr lang="en-US" sz="1200" dirty="0"/>
          </a:p>
        </p:txBody>
      </p:sp>
      <p:sp>
        <p:nvSpPr>
          <p:cNvPr id="8" name="Text 5"/>
          <p:cNvSpPr txBox="1"/>
          <p:nvPr/>
        </p:nvSpPr>
        <p:spPr>
          <a:xfrm>
            <a:off x="6035040" y="3794760"/>
            <a:ext cx="2606040" cy="274320"/>
          </a:xfrm>
          <a:prstGeom prst="rect">
            <a:avLst/>
          </a:prstGeom>
          <a:noFill/>
          <a:ln/>
        </p:spPr>
        <p:txBody>
          <a:bodyPr wrap="square" lIns="0" tIns="0" rIns="0" bIns="0" rtlCol="0" anchor="t"/>
          <a:lstStyle/>
          <a:p>
            <a:pPr indent="0" marL="0">
              <a:buNone/>
            </a:pPr>
            <a:r>
              <a:rPr lang="en-US" sz="1400" b="1" dirty="0">
                <a:solidFill>
                  <a:srgbClr val="0C6A9D"/>
                </a:solidFill>
                <a:latin typeface="Calibri" pitchFamily="34" charset="0"/>
                <a:ea typeface="Calibri" pitchFamily="34" charset="-122"/>
                <a:cs typeface="Calibri" pitchFamily="34" charset="-120"/>
              </a:rPr>
              <a:t>Fix</a:t>
            </a:r>
            <a:endParaRPr lang="en-US" sz="1400" dirty="0"/>
          </a:p>
        </p:txBody>
      </p:sp>
      <p:sp>
        <p:nvSpPr>
          <p:cNvPr id="9" name="Text 6"/>
          <p:cNvSpPr txBox="1"/>
          <p:nvPr/>
        </p:nvSpPr>
        <p:spPr>
          <a:xfrm>
            <a:off x="6035040" y="4087368"/>
            <a:ext cx="2606040" cy="548640"/>
          </a:xfrm>
          <a:prstGeom prst="rect">
            <a:avLst/>
          </a:prstGeom>
          <a:noFill/>
          <a:ln/>
        </p:spPr>
        <p:txBody>
          <a:bodyPr wrap="square" lIns="0" tIns="0" rIns="0" bIns="0" rtlCol="0" anchor="t"/>
          <a:lstStyle/>
          <a:p>
            <a:pPr indent="0" marL="0">
              <a:buNone/>
            </a:pPr>
            <a:r>
              <a:rPr lang="en-US" sz="1200" dirty="0">
                <a:solidFill>
                  <a:srgbClr val="52607A"/>
                </a:solidFill>
                <a:latin typeface="Calibri" pitchFamily="34" charset="0"/>
                <a:ea typeface="Calibri" pitchFamily="34" charset="-122"/>
                <a:cs typeface="Calibri" pitchFamily="34" charset="-120"/>
              </a:rPr>
              <a:t>early stopping restores the best weights automatically</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2607A"/>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94360"/>
          </a:xfrm>
          <a:prstGeom prst="rect">
            <a:avLst/>
          </a:prstGeom>
          <a:noFill/>
          <a:ln/>
        </p:spPr>
        <p:txBody>
          <a:bodyPr wrap="square" lIns="0" tIns="0" rIns="0" bIns="0" rtlCol="0" anchor="ctr"/>
          <a:lstStyle/>
          <a:p>
            <a:pPr algn="l" indent="0" marL="0">
              <a:buNone/>
            </a:pPr>
            <a:r>
              <a:rPr lang="en-US" sz="2800" b="1" dirty="0">
                <a:solidFill>
                  <a:srgbClr val="0C2547"/>
                </a:solidFill>
                <a:latin typeface="Cambria" pitchFamily="34" charset="0"/>
                <a:ea typeface="Cambria" pitchFamily="34" charset="-122"/>
                <a:cs typeface="Cambria" pitchFamily="34" charset="-120"/>
              </a:rPr>
              <a:t>Results: DistilRoBERTa is best on every set</a:t>
            </a:r>
            <a:endParaRPr lang="en-US" sz="2800" dirty="0"/>
          </a:p>
        </p:txBody>
      </p:sp>
      <p:graphicFrame>
        <p:nvGraphicFramePr>
          <p:cNvPr id="3" name="Chart 0" descr=""/>
          <p:cNvGraphicFramePr/>
          <p:nvPr/>
        </p:nvGraphicFramePr>
        <p:xfrm>
          <a:off x="365760" y="914400"/>
          <a:ext cx="5760720" cy="37033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355080" y="1051560"/>
            <a:ext cx="2377440" cy="502920"/>
          </a:xfrm>
          <a:prstGeom prst="rect">
            <a:avLst/>
          </a:prstGeom>
          <a:noFill/>
          <a:ln/>
        </p:spPr>
        <p:txBody>
          <a:bodyPr wrap="square" lIns="0" tIns="0" rIns="0" bIns="0" rtlCol="0" anchor="t"/>
          <a:lstStyle/>
          <a:p>
            <a:pPr indent="0" marL="0">
              <a:buNone/>
            </a:pPr>
            <a:r>
              <a:rPr lang="en-US" sz="3000" b="1" dirty="0">
                <a:solidFill>
                  <a:srgbClr val="1BAF7A"/>
                </a:solidFill>
                <a:latin typeface="Cambria" pitchFamily="34" charset="0"/>
                <a:ea typeface="Cambria" pitchFamily="34" charset="-122"/>
                <a:cs typeface="Cambria" pitchFamily="34" charset="-120"/>
              </a:rPr>
              <a:t>92.6 %</a:t>
            </a:r>
            <a:endParaRPr lang="en-US" sz="3000" dirty="0"/>
          </a:p>
        </p:txBody>
      </p:sp>
      <p:sp>
        <p:nvSpPr>
          <p:cNvPr id="5" name="Text 2"/>
          <p:cNvSpPr txBox="1"/>
          <p:nvPr/>
        </p:nvSpPr>
        <p:spPr>
          <a:xfrm>
            <a:off x="6355080" y="1581912"/>
            <a:ext cx="2377440" cy="411480"/>
          </a:xfrm>
          <a:prstGeom prst="rect">
            <a:avLst/>
          </a:prstGeom>
          <a:noFill/>
          <a:ln/>
        </p:spPr>
        <p:txBody>
          <a:bodyPr wrap="square" lIns="0" tIns="0" rIns="0" bIns="0" rtlCol="0" anchor="t"/>
          <a:lstStyle/>
          <a:p>
            <a:pPr indent="0" marL="0">
              <a:buNone/>
            </a:pPr>
            <a:r>
              <a:rPr lang="en-US" sz="1200" dirty="0">
                <a:solidFill>
                  <a:srgbClr val="52607A"/>
                </a:solidFill>
                <a:latin typeface="Calibri" pitchFamily="34" charset="0"/>
                <a:ea typeface="Calibri" pitchFamily="34" charset="-122"/>
                <a:cs typeface="Calibri" pitchFamily="34" charset="-120"/>
              </a:rPr>
              <a:t>test accuracy</a:t>
            </a:r>
            <a:endParaRPr lang="en-US" sz="1200" dirty="0"/>
          </a:p>
        </p:txBody>
      </p:sp>
      <p:sp>
        <p:nvSpPr>
          <p:cNvPr id="6" name="Text 3"/>
          <p:cNvSpPr txBox="1"/>
          <p:nvPr/>
        </p:nvSpPr>
        <p:spPr>
          <a:xfrm>
            <a:off x="6355080" y="2194560"/>
            <a:ext cx="2377440" cy="502920"/>
          </a:xfrm>
          <a:prstGeom prst="rect">
            <a:avLst/>
          </a:prstGeom>
          <a:noFill/>
          <a:ln/>
        </p:spPr>
        <p:txBody>
          <a:bodyPr wrap="square" lIns="0" tIns="0" rIns="0" bIns="0" rtlCol="0" anchor="t"/>
          <a:lstStyle/>
          <a:p>
            <a:pPr indent="0" marL="0">
              <a:buNone/>
            </a:pPr>
            <a:r>
              <a:rPr lang="en-US" sz="3000" b="1" dirty="0">
                <a:solidFill>
                  <a:srgbClr val="1BAF7A"/>
                </a:solidFill>
                <a:latin typeface="Cambria" pitchFamily="34" charset="0"/>
                <a:ea typeface="Cambria" pitchFamily="34" charset="-122"/>
                <a:cs typeface="Cambria" pitchFamily="34" charset="-120"/>
              </a:rPr>
              <a:t>0.972</a:t>
            </a:r>
            <a:endParaRPr lang="en-US" sz="3000" dirty="0"/>
          </a:p>
        </p:txBody>
      </p:sp>
      <p:sp>
        <p:nvSpPr>
          <p:cNvPr id="7" name="Text 4"/>
          <p:cNvSpPr txBox="1"/>
          <p:nvPr/>
        </p:nvSpPr>
        <p:spPr>
          <a:xfrm>
            <a:off x="6355080" y="2724912"/>
            <a:ext cx="2377440" cy="411480"/>
          </a:xfrm>
          <a:prstGeom prst="rect">
            <a:avLst/>
          </a:prstGeom>
          <a:noFill/>
          <a:ln/>
        </p:spPr>
        <p:txBody>
          <a:bodyPr wrap="square" lIns="0" tIns="0" rIns="0" bIns="0" rtlCol="0" anchor="t"/>
          <a:lstStyle/>
          <a:p>
            <a:pPr indent="0" marL="0">
              <a:buNone/>
            </a:pPr>
            <a:r>
              <a:rPr lang="en-US" sz="1200" dirty="0">
                <a:solidFill>
                  <a:srgbClr val="52607A"/>
                </a:solidFill>
                <a:latin typeface="Calibri" pitchFamily="34" charset="0"/>
                <a:ea typeface="Calibri" pitchFamily="34" charset="-122"/>
                <a:cs typeface="Calibri" pitchFamily="34" charset="-120"/>
              </a:rPr>
              <a:t>ROC-AUC</a:t>
            </a:r>
            <a:endParaRPr lang="en-US" sz="1200" dirty="0"/>
          </a:p>
        </p:txBody>
      </p:sp>
      <p:sp>
        <p:nvSpPr>
          <p:cNvPr id="8" name="Text 5"/>
          <p:cNvSpPr txBox="1"/>
          <p:nvPr/>
        </p:nvSpPr>
        <p:spPr>
          <a:xfrm>
            <a:off x="6355080" y="3337560"/>
            <a:ext cx="2377440" cy="502920"/>
          </a:xfrm>
          <a:prstGeom prst="rect">
            <a:avLst/>
          </a:prstGeom>
          <a:noFill/>
          <a:ln/>
        </p:spPr>
        <p:txBody>
          <a:bodyPr wrap="square" lIns="0" tIns="0" rIns="0" bIns="0" rtlCol="0" anchor="t"/>
          <a:lstStyle/>
          <a:p>
            <a:pPr indent="0" marL="0">
              <a:buNone/>
            </a:pPr>
            <a:r>
              <a:rPr lang="en-US" sz="2400" b="1" dirty="0">
                <a:solidFill>
                  <a:srgbClr val="CC163F"/>
                </a:solidFill>
                <a:latin typeface="Cambria" pitchFamily="34" charset="0"/>
                <a:ea typeface="Cambria" pitchFamily="34" charset="-122"/>
                <a:cs typeface="Cambria" pitchFamily="34" charset="-120"/>
              </a:rPr>
              <a:t>0.71 → 0.91</a:t>
            </a:r>
            <a:endParaRPr lang="en-US" sz="2400" dirty="0"/>
          </a:p>
        </p:txBody>
      </p:sp>
      <p:sp>
        <p:nvSpPr>
          <p:cNvPr id="9" name="Text 6"/>
          <p:cNvSpPr txBox="1"/>
          <p:nvPr/>
        </p:nvSpPr>
        <p:spPr>
          <a:xfrm>
            <a:off x="6355080" y="3867912"/>
            <a:ext cx="2377440" cy="411480"/>
          </a:xfrm>
          <a:prstGeom prst="rect">
            <a:avLst/>
          </a:prstGeom>
          <a:noFill/>
          <a:ln/>
        </p:spPr>
        <p:txBody>
          <a:bodyPr wrap="square" lIns="0" tIns="0" rIns="0" bIns="0" rtlCol="0" anchor="t"/>
          <a:lstStyle/>
          <a:p>
            <a:pPr indent="0" marL="0">
              <a:buNone/>
            </a:pPr>
            <a:r>
              <a:rPr lang="en-US" sz="1200" dirty="0">
                <a:solidFill>
                  <a:srgbClr val="52607A"/>
                </a:solidFill>
                <a:latin typeface="Calibri" pitchFamily="34" charset="0"/>
                <a:ea typeface="Calibri" pitchFamily="34" charset="-122"/>
                <a:cs typeface="Calibri" pitchFamily="34" charset="-120"/>
              </a:rPr>
              <a:t>macro-F1 on obfuscated text (v1 → v2)</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2607A"/>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94360"/>
          </a:xfrm>
          <a:prstGeom prst="rect">
            <a:avLst/>
          </a:prstGeom>
          <a:noFill/>
          <a:ln/>
        </p:spPr>
        <p:txBody>
          <a:bodyPr wrap="square" lIns="0" tIns="0" rIns="0" bIns="0" rtlCol="0" anchor="ctr"/>
          <a:lstStyle/>
          <a:p>
            <a:pPr algn="l" indent="0" marL="0">
              <a:buNone/>
            </a:pPr>
            <a:r>
              <a:rPr lang="en-US" sz="2800" b="1" dirty="0">
                <a:solidFill>
                  <a:srgbClr val="0C2547"/>
                </a:solidFill>
                <a:latin typeface="Cambria" pitchFamily="34" charset="0"/>
                <a:ea typeface="Cambria" pitchFamily="34" charset="-122"/>
                <a:cs typeface="Cambria" pitchFamily="34" charset="-120"/>
              </a:rPr>
              <a:t>Where each model succeeds: challenge set</a:t>
            </a:r>
            <a:endParaRPr lang="en-US" sz="2800" dirty="0"/>
          </a:p>
        </p:txBody>
      </p:sp>
      <p:pic>
        <p:nvPicPr>
          <p:cNvPr id="3" name="Image 0" descr="C:\Users\User\Documents\projects a faire\sightector\docs\figures\challenge_by_category.png">    </p:cNvPr>
          <p:cNvPicPr>
            <a:picLocks noChangeAspect="1"/>
          </p:cNvPicPr>
          <p:nvPr/>
        </p:nvPicPr>
        <p:blipFill>
          <a:blip r:embed="rId1"/>
          <a:stretch>
            <a:fillRect/>
          </a:stretch>
        </p:blipFill>
        <p:spPr>
          <a:xfrm>
            <a:off x="457200" y="960120"/>
            <a:ext cx="8229600" cy="2743200"/>
          </a:xfrm>
          <a:prstGeom prst="rect">
            <a:avLst/>
          </a:prstGeom>
        </p:spPr>
      </p:pic>
      <p:sp>
        <p:nvSpPr>
          <p:cNvPr id="4" name="Text 1"/>
          <p:cNvSpPr txBox="1"/>
          <p:nvPr/>
        </p:nvSpPr>
        <p:spPr>
          <a:xfrm>
            <a:off x="457200" y="3840480"/>
            <a:ext cx="8229600" cy="685800"/>
          </a:xfrm>
          <a:prstGeom prst="rect">
            <a:avLst/>
          </a:prstGeom>
          <a:noFill/>
          <a:ln/>
        </p:spPr>
        <p:txBody>
          <a:bodyPr wrap="square" lIns="0" tIns="0" rIns="0" bIns="0" rtlCol="0" anchor="t"/>
          <a:lstStyle/>
          <a:p>
            <a:pPr indent="0" marL="0">
              <a:buNone/>
            </a:pPr>
            <a:r>
              <a:rPr lang="en-US" sz="1300" b="1" dirty="0">
                <a:solidFill>
                  <a:srgbClr val="0C2547"/>
                </a:solidFill>
                <a:latin typeface="Calibri" pitchFamily="34" charset="0"/>
                <a:ea typeface="Calibri" pitchFamily="34" charset="-122"/>
                <a:cs typeface="Calibri" pitchFamily="34" charset="-120"/>
              </a:rPr>
              <a:t>Obfuscation: </a:t>
            </a:r>
            <a:pPr indent="0" marL="0">
              <a:buNone/>
            </a:pPr>
            <a:r>
              <a:rPr lang="en-US" sz="1300" dirty="0">
                <a:solidFill>
                  <a:srgbClr val="52607A"/>
                </a:solidFill>
                <a:latin typeface="Calibri" pitchFamily="34" charset="0"/>
                <a:ea typeface="Calibri" pitchFamily="34" charset="-122"/>
                <a:cs typeface="Calibri" pitchFamily="34" charset="-120"/>
              </a:rPr>
              <a:t>v1 27 % → v2 91-100 %.   </a:t>
            </a:r>
            <a:pPr indent="0" marL="0">
              <a:buNone/>
            </a:pPr>
            <a:r>
              <a:rPr lang="en-US" sz="1300" b="1" dirty="0">
                <a:solidFill>
                  <a:srgbClr val="0C2547"/>
                </a:solidFill>
                <a:latin typeface="Calibri" pitchFamily="34" charset="0"/>
                <a:ea typeface="Calibri" pitchFamily="34" charset="-122"/>
                <a:cs typeface="Calibri" pitchFamily="34" charset="-120"/>
              </a:rPr>
              <a:t>Context: </a:t>
            </a:r>
            <a:pPr indent="0" marL="0">
              <a:buNone/>
            </a:pPr>
            <a:r>
              <a:rPr lang="en-US" sz="1300" dirty="0">
                <a:solidFill>
                  <a:srgbClr val="52607A"/>
                </a:solidFill>
                <a:latin typeface="Calibri" pitchFamily="34" charset="0"/>
                <a:ea typeface="Calibri" pitchFamily="34" charset="-122"/>
                <a:cs typeface="Calibri" pitchFamily="34" charset="-120"/>
              </a:rPr>
              <a:t>only the Transformer is right on 94 % of tricky clean sentences.   </a:t>
            </a:r>
            <a:pPr indent="0" marL="0">
              <a:buNone/>
            </a:pPr>
            <a:r>
              <a:rPr lang="en-US" sz="1300" b="1" dirty="0">
                <a:solidFill>
                  <a:srgbClr val="CC163F"/>
                </a:solidFill>
                <a:latin typeface="Calibri" pitchFamily="34" charset="0"/>
                <a:ea typeface="Calibri" pitchFamily="34" charset="-122"/>
                <a:cs typeface="Calibri" pitchFamily="34" charset="-120"/>
              </a:rPr>
              <a:t>Still hard: </a:t>
            </a:r>
            <a:pPr indent="0" marL="0">
              <a:buNone/>
            </a:pPr>
            <a:r>
              <a:rPr lang="en-US" sz="1300" dirty="0">
                <a:solidFill>
                  <a:srgbClr val="52607A"/>
                </a:solidFill>
                <a:latin typeface="Calibri" pitchFamily="34" charset="0"/>
                <a:ea typeface="Calibri" pitchFamily="34" charset="-122"/>
                <a:cs typeface="Calibri" pitchFamily="34" charset="-120"/>
              </a:rPr>
              <a:t>implicit threats and stereotype sexism.</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2607A"/>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94360"/>
          </a:xfrm>
          <a:prstGeom prst="rect">
            <a:avLst/>
          </a:prstGeom>
          <a:noFill/>
          <a:ln/>
        </p:spPr>
        <p:txBody>
          <a:bodyPr wrap="square" lIns="0" tIns="0" rIns="0" bIns="0" rtlCol="0" anchor="ctr"/>
          <a:lstStyle/>
          <a:p>
            <a:pPr algn="l" indent="0" marL="0">
              <a:buNone/>
            </a:pPr>
            <a:r>
              <a:rPr lang="en-US" sz="2800" b="1" dirty="0">
                <a:solidFill>
                  <a:srgbClr val="0C2547"/>
                </a:solidFill>
                <a:latin typeface="Cambria" pitchFamily="34" charset="0"/>
                <a:ea typeface="Cambria" pitchFamily="34" charset="-122"/>
                <a:cs typeface="Cambria" pitchFamily="34" charset="-120"/>
              </a:rPr>
              <a:t>Ablation: the normaliser is the key component</a:t>
            </a:r>
            <a:endParaRPr lang="en-US" sz="2800" dirty="0"/>
          </a:p>
        </p:txBody>
      </p:sp>
      <p:graphicFrame>
        <p:nvGraphicFramePr>
          <p:cNvPr id="3" name="Chart 0" descr=""/>
          <p:cNvGraphicFramePr/>
          <p:nvPr/>
        </p:nvGraphicFramePr>
        <p:xfrm>
          <a:off x="365760" y="914400"/>
          <a:ext cx="5394960" cy="37033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989320" y="1097280"/>
            <a:ext cx="2743200" cy="32918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52607A"/>
                </a:solidFill>
                <a:latin typeface="Calibri" pitchFamily="34" charset="0"/>
                <a:ea typeface="Calibri" pitchFamily="34" charset="-122"/>
                <a:cs typeface="Calibri" pitchFamily="34" charset="-120"/>
              </a:rPr>
              <a:t>Normaliser: +5 to +10 points on obfuscated text, no cost on clean text</a:t>
            </a:r>
            <a:endParaRPr lang="en-US" sz="1300" dirty="0"/>
          </a:p>
          <a:p>
            <a:pPr marL="342900" indent="-342900">
              <a:spcAft>
                <a:spcPts val="800"/>
              </a:spcAft>
              <a:buSzPct val="100000"/>
              <a:buChar char="•"/>
            </a:pPr>
            <a:r>
              <a:rPr lang="en-US" sz="1300" dirty="0">
                <a:solidFill>
                  <a:srgbClr val="52607A"/>
                </a:solidFill>
                <a:latin typeface="Calibri" pitchFamily="34" charset="0"/>
                <a:ea typeface="Calibri" pitchFamily="34" charset="-122"/>
                <a:cs typeface="Calibri" pitchFamily="34" charset="-120"/>
              </a:rPr>
              <a:t>Augmentation: +2.8 on the challenge set but slightly lower on test: within noise</a:t>
            </a:r>
            <a:endParaRPr lang="en-US" sz="1300" dirty="0"/>
          </a:p>
          <a:p>
            <a:pPr marL="342900" indent="-342900">
              <a:spcAft>
                <a:spcPts val="800"/>
              </a:spcAft>
              <a:buSzPct val="100000"/>
              <a:buChar char="•"/>
            </a:pPr>
            <a:r>
              <a:rPr lang="en-US" sz="1300" dirty="0">
                <a:solidFill>
                  <a:srgbClr val="52607A"/>
                </a:solidFill>
                <a:latin typeface="Calibri" pitchFamily="34" charset="0"/>
                <a:ea typeface="Calibri" pitchFamily="34" charset="-122"/>
                <a:cs typeface="Calibri" pitchFamily="34" charset="-120"/>
              </a:rPr>
              <a:t>Next step: several seeds and a larger challenge set</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2607A"/>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94360"/>
          </a:xfrm>
          <a:prstGeom prst="rect">
            <a:avLst/>
          </a:prstGeom>
          <a:noFill/>
          <a:ln/>
        </p:spPr>
        <p:txBody>
          <a:bodyPr wrap="square" lIns="0" tIns="0" rIns="0" bIns="0" rtlCol="0" anchor="ctr"/>
          <a:lstStyle/>
          <a:p>
            <a:pPr algn="l" indent="0" marL="0">
              <a:buNone/>
            </a:pPr>
            <a:r>
              <a:rPr lang="en-US" sz="2800" b="1" dirty="0">
                <a:solidFill>
                  <a:srgbClr val="0C2547"/>
                </a:solidFill>
                <a:latin typeface="Cambria" pitchFamily="34" charset="0"/>
                <a:ea typeface="Cambria" pitchFamily="34" charset="-122"/>
                <a:cs typeface="Cambria" pitchFamily="34" charset="-120"/>
              </a:rPr>
              <a:t>Error analysis: the model often beats the labels</a:t>
            </a:r>
            <a:endParaRPr lang="en-US" sz="2800" dirty="0"/>
          </a:p>
        </p:txBody>
      </p:sp>
      <p:sp>
        <p:nvSpPr>
          <p:cNvPr id="3" name="label-noise"/>
          <p:cNvSpPr/>
          <p:nvPr/>
        </p:nvSpPr>
        <p:spPr>
          <a:xfrm>
            <a:off x="457200" y="1051560"/>
            <a:ext cx="3977640" cy="2743200"/>
          </a:xfrm>
          <a:prstGeom prst="roundRect">
            <a:avLst>
              <a:gd name="adj" fmla="val 4000"/>
            </a:avLst>
          </a:prstGeom>
          <a:solidFill>
            <a:srgbClr val="FDE8EC"/>
          </a:solidFill>
          <a:ln w="12700">
            <a:solidFill>
              <a:srgbClr val="FDE8EC"/>
            </a:solidFill>
            <a:prstDash val="solid"/>
          </a:ln>
        </p:spPr>
      </p:sp>
      <p:pic>
        <p:nvPicPr>
          <p:cNvPr id="4" name="Image 0" descr="preencoded.png">    </p:cNvPr>
          <p:cNvPicPr>
            <a:picLocks noChangeAspect="1"/>
          </p:cNvPicPr>
          <p:nvPr/>
        </p:nvPicPr>
        <p:blipFill>
          <a:blip r:embed="rId1"/>
          <a:stretch>
            <a:fillRect/>
          </a:stretch>
        </p:blipFill>
        <p:spPr>
          <a:xfrm>
            <a:off x="685800" y="1234440"/>
            <a:ext cx="384048" cy="384048"/>
          </a:xfrm>
          <a:prstGeom prst="rect">
            <a:avLst/>
          </a:prstGeom>
        </p:spPr>
      </p:pic>
      <p:sp>
        <p:nvSpPr>
          <p:cNvPr id="5" name="Text 2"/>
          <p:cNvSpPr txBox="1"/>
          <p:nvPr/>
        </p:nvSpPr>
        <p:spPr>
          <a:xfrm>
            <a:off x="1188720" y="1261872"/>
            <a:ext cx="3017520" cy="365760"/>
          </a:xfrm>
          <a:prstGeom prst="rect">
            <a:avLst/>
          </a:prstGeom>
          <a:noFill/>
          <a:ln/>
        </p:spPr>
        <p:txBody>
          <a:bodyPr wrap="square" lIns="0" tIns="0" rIns="0" bIns="0" rtlCol="0" anchor="t"/>
          <a:lstStyle/>
          <a:p>
            <a:pPr indent="0" marL="0">
              <a:buNone/>
            </a:pPr>
            <a:r>
              <a:rPr lang="en-US" sz="1600" b="1" dirty="0">
                <a:solidFill>
                  <a:srgbClr val="0C2547"/>
                </a:solidFill>
                <a:latin typeface="Calibri" pitchFamily="34" charset="0"/>
                <a:ea typeface="Calibri" pitchFamily="34" charset="-122"/>
                <a:cs typeface="Calibri" pitchFamily="34" charset="-120"/>
              </a:rPr>
              <a:t>Label noise</a:t>
            </a:r>
            <a:endParaRPr lang="en-US" sz="1600" dirty="0"/>
          </a:p>
        </p:txBody>
      </p:sp>
      <p:sp>
        <p:nvSpPr>
          <p:cNvPr id="6" name="Text 3"/>
          <p:cNvSpPr txBox="1"/>
          <p:nvPr/>
        </p:nvSpPr>
        <p:spPr>
          <a:xfrm>
            <a:off x="685800" y="1783080"/>
            <a:ext cx="3566160" cy="822960"/>
          </a:xfrm>
          <a:prstGeom prst="rect">
            <a:avLst/>
          </a:prstGeom>
          <a:noFill/>
          <a:ln/>
        </p:spPr>
        <p:txBody>
          <a:bodyPr wrap="square" lIns="0" tIns="0" rIns="0" bIns="0" rtlCol="0" anchor="t"/>
          <a:lstStyle/>
          <a:p>
            <a:pPr indent="0" marL="0">
              <a:buNone/>
            </a:pPr>
            <a:r>
              <a:rPr lang="en-US" sz="1250" dirty="0">
                <a:solidFill>
                  <a:srgbClr val="52607A"/>
                </a:solidFill>
                <a:latin typeface="Calibri" pitchFamily="34" charset="0"/>
                <a:ea typeface="Calibri" pitchFamily="34" charset="-122"/>
                <a:cs typeface="Calibri" pitchFamily="34" charset="-120"/>
              </a:rPr>
              <a:t>17 of the 31 most confident "false positives" contain explicit insults but are labelled clean in the source data:</a:t>
            </a:r>
            <a:endParaRPr lang="en-US" sz="1250" dirty="0"/>
          </a:p>
        </p:txBody>
      </p:sp>
      <p:sp>
        <p:nvSpPr>
          <p:cNvPr id="7" name="Text 4"/>
          <p:cNvSpPr txBox="1"/>
          <p:nvPr/>
        </p:nvSpPr>
        <p:spPr>
          <a:xfrm>
            <a:off x="685800" y="2697480"/>
            <a:ext cx="3566160" cy="731520"/>
          </a:xfrm>
          <a:prstGeom prst="rect">
            <a:avLst/>
          </a:prstGeom>
          <a:noFill/>
          <a:ln/>
        </p:spPr>
        <p:txBody>
          <a:bodyPr wrap="square" lIns="0" tIns="0" rIns="0" bIns="0" rtlCol="0" anchor="t"/>
          <a:lstStyle/>
          <a:p>
            <a:pPr indent="0" marL="0">
              <a:buNone/>
            </a:pPr>
            <a:r>
              <a:rPr lang="en-US" sz="1250" i="1" dirty="0">
                <a:solidFill>
                  <a:srgbClr val="CC163F"/>
                </a:solidFill>
                <a:latin typeface="Calibri" pitchFamily="34" charset="0"/>
                <a:ea typeface="Calibri" pitchFamily="34" charset="-122"/>
                <a:cs typeface="Calibri" pitchFamily="34" charset="-120"/>
              </a:rPr>
              <a:t>"you fing rat you ratted me out you little prick"  →  labelled clean</a:t>
            </a:r>
            <a:endParaRPr lang="en-US" sz="1250" dirty="0"/>
          </a:p>
        </p:txBody>
      </p:sp>
      <p:sp>
        <p:nvSpPr>
          <p:cNvPr id="8" name="weaknesses"/>
          <p:cNvSpPr/>
          <p:nvPr/>
        </p:nvSpPr>
        <p:spPr>
          <a:xfrm>
            <a:off x="4709160" y="1051560"/>
            <a:ext cx="3977640" cy="2743200"/>
          </a:xfrm>
          <a:prstGeom prst="roundRect">
            <a:avLst>
              <a:gd name="adj" fmla="val 4000"/>
            </a:avLst>
          </a:prstGeom>
          <a:solidFill>
            <a:srgbClr val="EEF3F9"/>
          </a:solidFill>
          <a:ln w="12700">
            <a:solidFill>
              <a:srgbClr val="EEF3F9"/>
            </a:solidFill>
            <a:prstDash val="solid"/>
          </a:ln>
        </p:spPr>
      </p:sp>
      <p:pic>
        <p:nvPicPr>
          <p:cNvPr id="9" name="Image 1" descr="preencoded.png">    </p:cNvPr>
          <p:cNvPicPr>
            <a:picLocks noChangeAspect="1"/>
          </p:cNvPicPr>
          <p:nvPr/>
        </p:nvPicPr>
        <p:blipFill>
          <a:blip r:embed="rId2"/>
          <a:stretch>
            <a:fillRect/>
          </a:stretch>
        </p:blipFill>
        <p:spPr>
          <a:xfrm>
            <a:off x="4937760" y="1234440"/>
            <a:ext cx="384048" cy="384048"/>
          </a:xfrm>
          <a:prstGeom prst="rect">
            <a:avLst/>
          </a:prstGeom>
        </p:spPr>
      </p:pic>
      <p:sp>
        <p:nvSpPr>
          <p:cNvPr id="10" name="Text 6"/>
          <p:cNvSpPr txBox="1"/>
          <p:nvPr/>
        </p:nvSpPr>
        <p:spPr>
          <a:xfrm>
            <a:off x="5440680" y="1261872"/>
            <a:ext cx="3017520" cy="365760"/>
          </a:xfrm>
          <a:prstGeom prst="rect">
            <a:avLst/>
          </a:prstGeom>
          <a:noFill/>
          <a:ln/>
        </p:spPr>
        <p:txBody>
          <a:bodyPr wrap="square" lIns="0" tIns="0" rIns="0" bIns="0" rtlCol="0" anchor="t"/>
          <a:lstStyle/>
          <a:p>
            <a:pPr indent="0" marL="0">
              <a:buNone/>
            </a:pPr>
            <a:r>
              <a:rPr lang="en-US" sz="1600" b="1" dirty="0">
                <a:solidFill>
                  <a:srgbClr val="0C2547"/>
                </a:solidFill>
                <a:latin typeface="Calibri" pitchFamily="34" charset="0"/>
                <a:ea typeface="Calibri" pitchFamily="34" charset="-122"/>
                <a:cs typeface="Calibri" pitchFamily="34" charset="-120"/>
              </a:rPr>
              <a:t>Genuine weaknesses</a:t>
            </a:r>
            <a:endParaRPr lang="en-US" sz="1600" dirty="0"/>
          </a:p>
        </p:txBody>
      </p:sp>
      <p:sp>
        <p:nvSpPr>
          <p:cNvPr id="11" name="Text 7"/>
          <p:cNvSpPr txBox="1"/>
          <p:nvPr/>
        </p:nvSpPr>
        <p:spPr>
          <a:xfrm>
            <a:off x="4937760" y="1783080"/>
            <a:ext cx="3566160" cy="256032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52607A"/>
                </a:solidFill>
                <a:latin typeface="Calibri" pitchFamily="34" charset="0"/>
                <a:ea typeface="Calibri" pitchFamily="34" charset="-122"/>
                <a:cs typeface="Calibri" pitchFamily="34" charset="-120"/>
              </a:rPr>
              <a:t>Implicit threats: "i know where you live…"</a:t>
            </a:r>
            <a:endParaRPr lang="en-US" sz="1250" dirty="0"/>
          </a:p>
          <a:p>
            <a:pPr marL="342900" indent="-342900">
              <a:spcAft>
                <a:spcPts val="600"/>
              </a:spcAft>
              <a:buSzPct val="100000"/>
              <a:buChar char="•"/>
            </a:pPr>
            <a:r>
              <a:rPr lang="en-US" sz="1250" dirty="0">
                <a:solidFill>
                  <a:srgbClr val="52607A"/>
                </a:solidFill>
                <a:latin typeface="Calibri" pitchFamily="34" charset="0"/>
                <a:ea typeface="Calibri" pitchFamily="34" charset="-122"/>
                <a:cs typeface="Calibri" pitchFamily="34" charset="-120"/>
              </a:rPr>
              <a:t>Stereotype sexism: "women belong in the kitchen"</a:t>
            </a:r>
            <a:endParaRPr lang="en-US" sz="1250" dirty="0"/>
          </a:p>
          <a:p>
            <a:pPr marL="342900" indent="-342900">
              <a:spcAft>
                <a:spcPts val="600"/>
              </a:spcAft>
              <a:buSzPct val="100000"/>
              <a:buChar char="•"/>
            </a:pPr>
            <a:r>
              <a:rPr lang="en-US" sz="1250" dirty="0">
                <a:solidFill>
                  <a:srgbClr val="52607A"/>
                </a:solidFill>
                <a:latin typeface="Calibri" pitchFamily="34" charset="0"/>
                <a:ea typeface="Calibri" pitchFamily="34" charset="-122"/>
                <a:cs typeface="Calibri" pitchFamily="34" charset="-120"/>
              </a:rPr>
              <a:t>Violent idioms: "shoot me an email"</a:t>
            </a:r>
            <a:endParaRPr lang="en-US" sz="1250" dirty="0"/>
          </a:p>
          <a:p>
            <a:pPr marL="342900" indent="-342900">
              <a:spcAft>
                <a:spcPts val="600"/>
              </a:spcAft>
              <a:buSzPct val="100000"/>
              <a:buChar char="•"/>
            </a:pPr>
            <a:r>
              <a:rPr lang="en-US" sz="1250" b="1" dirty="0">
                <a:solidFill>
                  <a:srgbClr val="0C6A9D"/>
                </a:solidFill>
                <a:latin typeface="Calibri" pitchFamily="34" charset="0"/>
                <a:ea typeface="Calibri" pitchFamily="34" charset="-122"/>
                <a:cs typeface="Calibri" pitchFamily="34" charset="-120"/>
              </a:rPr>
              <a:t>Fix: targeted data, not better spelling rules</a:t>
            </a:r>
            <a:endParaRPr lang="en-US" sz="125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2607A"/>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94360"/>
          </a:xfrm>
          <a:prstGeom prst="rect">
            <a:avLst/>
          </a:prstGeom>
          <a:noFill/>
          <a:ln/>
        </p:spPr>
        <p:txBody>
          <a:bodyPr wrap="square" lIns="0" tIns="0" rIns="0" bIns="0" rtlCol="0" anchor="ctr"/>
          <a:lstStyle/>
          <a:p>
            <a:pPr algn="l" indent="0" marL="0">
              <a:buNone/>
            </a:pPr>
            <a:r>
              <a:rPr lang="en-US" sz="2800" b="1" dirty="0">
                <a:solidFill>
                  <a:srgbClr val="0C2547"/>
                </a:solidFill>
                <a:latin typeface="Cambria" pitchFamily="34" charset="0"/>
                <a:ea typeface="Cambria" pitchFamily="34" charset="-122"/>
                <a:cs typeface="Cambria" pitchFamily="34" charset="-120"/>
              </a:rPr>
              <a:t>Clean architecture, from model to browser</a:t>
            </a:r>
            <a:endParaRPr lang="en-US" sz="2800" dirty="0"/>
          </a:p>
        </p:txBody>
      </p:sp>
      <p:pic>
        <p:nvPicPr>
          <p:cNvPr id="3" name="Image 0" descr="C:\Users\User\Documents\projects a faire\sightector\docs\figures\architecture.png">    </p:cNvPr>
          <p:cNvPicPr>
            <a:picLocks noChangeAspect="1"/>
          </p:cNvPicPr>
          <p:nvPr/>
        </p:nvPicPr>
        <p:blipFill>
          <a:blip r:embed="rId1"/>
          <a:stretch>
            <a:fillRect/>
          </a:stretch>
        </p:blipFill>
        <p:spPr>
          <a:xfrm>
            <a:off x="457200" y="960120"/>
            <a:ext cx="5852160" cy="2313432"/>
          </a:xfrm>
          <a:prstGeom prst="rect">
            <a:avLst/>
          </a:prstGeom>
        </p:spPr>
      </p:pic>
      <p:sp>
        <p:nvSpPr>
          <p:cNvPr id="4" name="Text 1"/>
          <p:cNvSpPr txBox="1"/>
          <p:nvPr/>
        </p:nvSpPr>
        <p:spPr>
          <a:xfrm>
            <a:off x="6492240" y="1005840"/>
            <a:ext cx="2240280" cy="32918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52607A"/>
                </a:solidFill>
                <a:latin typeface="Calibri" pitchFamily="34" charset="0"/>
                <a:ea typeface="Calibri" pitchFamily="34" charset="-122"/>
                <a:cs typeface="Calibri" pitchFamily="34" charset="-120"/>
              </a:rPr>
              <a:t>Layers: text → data → models → training → inference → API</a:t>
            </a:r>
            <a:endParaRPr lang="en-US" sz="1250" dirty="0"/>
          </a:p>
          <a:p>
            <a:pPr marL="342900" indent="-342900">
              <a:spcAft>
                <a:spcPts val="600"/>
              </a:spcAft>
              <a:buSzPct val="100000"/>
              <a:buChar char="•"/>
            </a:pPr>
            <a:r>
              <a:rPr lang="en-US" sz="1250" dirty="0">
                <a:solidFill>
                  <a:srgbClr val="52607A"/>
                </a:solidFill>
                <a:latin typeface="Calibri" pitchFamily="34" charset="0"/>
                <a:ea typeface="Calibri" pitchFamily="34" charset="-122"/>
                <a:cs typeface="Calibri" pitchFamily="34" charset="-120"/>
              </a:rPr>
              <a:t>One TextClassifier interface; model fallback</a:t>
            </a:r>
            <a:endParaRPr lang="en-US" sz="1250" dirty="0"/>
          </a:p>
          <a:p>
            <a:pPr marL="342900" indent="-342900">
              <a:spcAft>
                <a:spcPts val="600"/>
              </a:spcAft>
              <a:buSzPct val="100000"/>
              <a:buChar char="•"/>
            </a:pPr>
            <a:r>
              <a:rPr lang="en-US" sz="1250" dirty="0">
                <a:solidFill>
                  <a:srgbClr val="52607A"/>
                </a:solidFill>
                <a:latin typeface="Calibri" pitchFamily="34" charset="0"/>
                <a:ea typeface="Calibri" pitchFamily="34" charset="-122"/>
                <a:cs typeface="Calibri" pitchFamily="34" charset="-120"/>
              </a:rPr>
              <a:t>Flask app factory with dependency injection</a:t>
            </a:r>
            <a:endParaRPr lang="en-US" sz="1250" dirty="0"/>
          </a:p>
          <a:p>
            <a:pPr marL="342900" indent="-342900">
              <a:spcAft>
                <a:spcPts val="600"/>
              </a:spcAft>
              <a:buSzPct val="100000"/>
              <a:buChar char="•"/>
            </a:pPr>
            <a:r>
              <a:rPr lang="en-US" sz="1250" dirty="0">
                <a:solidFill>
                  <a:srgbClr val="52607A"/>
                </a:solidFill>
                <a:latin typeface="Calibri" pitchFamily="34" charset="0"/>
                <a:ea typeface="Calibri" pitchFamily="34" charset="-122"/>
                <a:cs typeface="Calibri" pitchFamily="34" charset="-120"/>
              </a:rPr>
              <a:t>31 pytest tests · 18 ms per message on CPU</a:t>
            </a:r>
            <a:endParaRPr lang="en-US" sz="1250" dirty="0"/>
          </a:p>
        </p:txBody>
      </p:sp>
      <p:sp>
        <p:nvSpPr>
          <p:cNvPr id="5" name="Text 2"/>
          <p:cNvSpPr txBox="1"/>
          <p:nvPr/>
        </p:nvSpPr>
        <p:spPr>
          <a:xfrm>
            <a:off x="457200" y="3520440"/>
            <a:ext cx="5852160" cy="365760"/>
          </a:xfrm>
          <a:prstGeom prst="rect">
            <a:avLst/>
          </a:prstGeom>
          <a:noFill/>
          <a:ln/>
        </p:spPr>
        <p:txBody>
          <a:bodyPr wrap="square" lIns="0" tIns="0" rIns="0" bIns="0" rtlCol="0" anchor="t"/>
          <a:lstStyle/>
          <a:p>
            <a:pPr indent="0" marL="0">
              <a:buNone/>
            </a:pPr>
            <a:r>
              <a:rPr lang="en-US" sz="1200" dirty="0">
                <a:solidFill>
                  <a:srgbClr val="0C6A9D"/>
                </a:solidFill>
                <a:latin typeface="Consolas" pitchFamily="34" charset="0"/>
                <a:ea typeface="Consolas" pitchFamily="34" charset="-122"/>
                <a:cs typeface="Consolas" pitchFamily="34" charset="-120"/>
              </a:rPr>
              <a:t>POST /api/analyze  →  harassment · score · severity · de-obfuscated words · highlights</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2607A"/>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94360"/>
          </a:xfrm>
          <a:prstGeom prst="rect">
            <a:avLst/>
          </a:prstGeom>
          <a:noFill/>
          <a:ln/>
        </p:spPr>
        <p:txBody>
          <a:bodyPr wrap="square" lIns="0" tIns="0" rIns="0" bIns="0" rtlCol="0" anchor="ctr"/>
          <a:lstStyle/>
          <a:p>
            <a:pPr algn="l" indent="0" marL="0">
              <a:buNone/>
            </a:pPr>
            <a:r>
              <a:rPr lang="en-US" sz="2800" b="1" dirty="0">
                <a:solidFill>
                  <a:srgbClr val="0C2547"/>
                </a:solidFill>
                <a:latin typeface="Cambria" pitchFamily="34" charset="0"/>
                <a:ea typeface="Cambria" pitchFamily="34" charset="-122"/>
                <a:cs typeface="Cambria" pitchFamily="34" charset="-120"/>
              </a:rPr>
              <a:t>Demo: dashboard and browser extension</a:t>
            </a:r>
            <a:endParaRPr lang="en-US" sz="2800" dirty="0"/>
          </a:p>
        </p:txBody>
      </p:sp>
      <p:pic>
        <p:nvPicPr>
          <p:cNvPr id="3" name="shot-insult" descr="C:\Users\User\Documents\projects a faire\sightector\docs\screenshots\dashboard_obfuscated_insult.png">    </p:cNvPr>
          <p:cNvPicPr>
            <a:picLocks noChangeAspect="1"/>
          </p:cNvPicPr>
          <p:nvPr/>
        </p:nvPicPr>
        <p:blipFill>
          <a:blip r:embed="rId1"/>
          <a:stretch>
            <a:fillRect/>
          </a:stretch>
        </p:blipFill>
        <p:spPr>
          <a:xfrm>
            <a:off x="457200" y="960120"/>
            <a:ext cx="3246120" cy="2532888"/>
          </a:xfrm>
          <a:prstGeom prst="rect">
            <a:avLst/>
          </a:prstGeom>
        </p:spPr>
      </p:pic>
      <p:pic>
        <p:nvPicPr>
          <p:cNvPr id="4" name="shot-clean" descr="C:\Users\User\Documents\projects a faire\sightector\docs\screenshots\dashboard_clean_message.png">    </p:cNvPr>
          <p:cNvPicPr>
            <a:picLocks noChangeAspect="1"/>
          </p:cNvPicPr>
          <p:nvPr/>
        </p:nvPicPr>
        <p:blipFill>
          <a:blip r:embed="rId2"/>
          <a:stretch>
            <a:fillRect/>
          </a:stretch>
        </p:blipFill>
        <p:spPr>
          <a:xfrm>
            <a:off x="3840480" y="960120"/>
            <a:ext cx="3246120" cy="2532888"/>
          </a:xfrm>
          <a:prstGeom prst="rect">
            <a:avLst/>
          </a:prstGeom>
        </p:spPr>
      </p:pic>
      <p:pic>
        <p:nvPicPr>
          <p:cNvPr id="5" name="shot-extension" descr="C:\Users\User\Documents\projects a faire\sightector\docs\screenshots\extension_harassment.png">    </p:cNvPr>
          <p:cNvPicPr>
            <a:picLocks noChangeAspect="1"/>
          </p:cNvPicPr>
          <p:nvPr/>
        </p:nvPicPr>
        <p:blipFill>
          <a:blip r:embed="rId3"/>
          <a:stretch>
            <a:fillRect/>
          </a:stretch>
        </p:blipFill>
        <p:spPr>
          <a:xfrm>
            <a:off x="7269480" y="914400"/>
            <a:ext cx="1417320" cy="3511296"/>
          </a:xfrm>
          <a:prstGeom prst="rect">
            <a:avLst/>
          </a:prstGeom>
        </p:spPr>
      </p:pic>
      <p:sp>
        <p:nvSpPr>
          <p:cNvPr id="6" name="Text 1"/>
          <p:cNvSpPr txBox="1"/>
          <p:nvPr/>
        </p:nvSpPr>
        <p:spPr>
          <a:xfrm>
            <a:off x="457200" y="3611880"/>
            <a:ext cx="3246120" cy="320040"/>
          </a:xfrm>
          <a:prstGeom prst="rect">
            <a:avLst/>
          </a:prstGeom>
          <a:noFill/>
          <a:ln/>
        </p:spPr>
        <p:txBody>
          <a:bodyPr wrap="square" lIns="0" tIns="0" rIns="0" bIns="0" rtlCol="0" anchor="t"/>
          <a:lstStyle/>
          <a:p>
            <a:pPr indent="0" marL="0">
              <a:buNone/>
            </a:pPr>
            <a:r>
              <a:rPr lang="en-US" sz="1200" dirty="0">
                <a:solidFill>
                  <a:srgbClr val="52607A"/>
                </a:solidFill>
                <a:latin typeface="Calibri" pitchFamily="34" charset="0"/>
                <a:ea typeface="Calibri" pitchFamily="34" charset="-122"/>
                <a:cs typeface="Calibri" pitchFamily="34" charset="-120"/>
              </a:rPr>
              <a:t>fu*ck iiidiot: detected, words decoded</a:t>
            </a:r>
            <a:endParaRPr lang="en-US" sz="1200" dirty="0"/>
          </a:p>
        </p:txBody>
      </p:sp>
      <p:sp>
        <p:nvSpPr>
          <p:cNvPr id="7" name="Text 2"/>
          <p:cNvSpPr txBox="1"/>
          <p:nvPr/>
        </p:nvSpPr>
        <p:spPr>
          <a:xfrm>
            <a:off x="3840480" y="3611880"/>
            <a:ext cx="3246120" cy="320040"/>
          </a:xfrm>
          <a:prstGeom prst="rect">
            <a:avLst/>
          </a:prstGeom>
          <a:noFill/>
          <a:ln/>
        </p:spPr>
        <p:txBody>
          <a:bodyPr wrap="square" lIns="0" tIns="0" rIns="0" bIns="0" rtlCol="0" anchor="t"/>
          <a:lstStyle/>
          <a:p>
            <a:pPr indent="0" marL="0">
              <a:buNone/>
            </a:pPr>
            <a:r>
              <a:rPr lang="en-US" sz="1200" dirty="0">
                <a:solidFill>
                  <a:srgbClr val="52607A"/>
                </a:solidFill>
                <a:latin typeface="Calibri" pitchFamily="34" charset="0"/>
                <a:ea typeface="Calibri" pitchFamily="34" charset="-122"/>
                <a:cs typeface="Calibri" pitchFamily="34" charset="-120"/>
              </a:rPr>
              <a:t>"kill the process": harmless in context</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2607A"/>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8046720" cy="82296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Conclusion and future work</a:t>
            </a:r>
            <a:endParaRPr lang="en-US" sz="3400" dirty="0"/>
          </a:p>
        </p:txBody>
      </p:sp>
      <p:sp>
        <p:nvSpPr>
          <p:cNvPr id="3" name="Text 0"/>
          <p:cNvSpPr/>
          <p:nvPr>
            <p:ph idx="101" type="body" hasCustomPrompt="1"/>
          </p:nvPr>
        </p:nvSpPr>
        <p:spPr>
          <a:xfrm>
            <a:off x="548640" y="1463040"/>
            <a:ext cx="8046720" cy="2377440"/>
          </a:xfrm>
          <a:prstGeom prst="rect">
            <a:avLst/>
          </a:prstGeom>
          <a:noFill/>
          <a:ln/>
        </p:spPr>
        <p:txBody>
          <a:bodyPr wrap="square" lIns="0" tIns="0" rIns="0" bIns="0" rtlCol="0" anchor="t"/>
          <a:lstStyle/>
          <a:p>
            <a:pPr algn="l" marL="342900" indent="-342900">
              <a:spcAft>
                <a:spcPts val="600"/>
              </a:spcAft>
              <a:buSzPct val="100000"/>
              <a:buChar char="•"/>
            </a:pPr>
            <a:r>
              <a:rPr lang="en-US" sz="1600" dirty="0">
                <a:solidFill>
                  <a:srgbClr val="CADCFC"/>
                </a:solidFill>
                <a:latin typeface="Calibri" pitchFamily="34" charset="0"/>
                <a:ea typeface="Calibri" pitchFamily="34" charset="-122"/>
                <a:cs typeface="Calibri" pitchFamily="34" charset="-120"/>
              </a:rPr>
              <a:t>Obfuscated text: 0.71 → 0.91 macro-F1;  challenge set: 0.63 → 0.91</a:t>
            </a:r>
            <a:endParaRPr lang="en-US" sz="1600" dirty="0"/>
          </a:p>
          <a:p>
            <a:pPr algn="l" marL="342900" indent="-342900">
              <a:spcAft>
                <a:spcPts val="600"/>
              </a:spcAft>
              <a:buSzPct val="100000"/>
              <a:buChar char="•"/>
            </a:pPr>
            <a:r>
              <a:rPr lang="en-US" sz="1600" dirty="0">
                <a:solidFill>
                  <a:srgbClr val="CADCFC"/>
                </a:solidFill>
                <a:latin typeface="Calibri" pitchFamily="34" charset="0"/>
                <a:ea typeface="Calibri" pitchFamily="34" charset="-122"/>
                <a:cs typeface="Calibri" pitchFamily="34" charset="-120"/>
              </a:rPr>
              <a:t>Next: relabel noisy data, collect implicit threats, add Arabic / French / Tunisian Derja</a:t>
            </a:r>
            <a:endParaRPr lang="en-US" sz="1600" dirty="0"/>
          </a:p>
          <a:p>
            <a:pPr algn="l" marL="342900" indent="-342900">
              <a:spcAft>
                <a:spcPts val="600"/>
              </a:spcAft>
              <a:buSzPct val="100000"/>
              <a:buChar char="•"/>
            </a:pPr>
            <a:r>
              <a:rPr lang="en-US" sz="1600" dirty="0">
                <a:solidFill>
                  <a:srgbClr val="CADCFC"/>
                </a:solidFill>
                <a:latin typeface="Calibri" pitchFamily="34" charset="0"/>
                <a:ea typeface="Calibri" pitchFamily="34" charset="-122"/>
                <a:cs typeface="Calibri" pitchFamily="34" charset="-120"/>
              </a:rPr>
              <a:t>Next: multi-label heads, larger encoders, in-browser ONNX inference</a:t>
            </a:r>
            <a:endParaRPr lang="en-US" sz="1600" dirty="0"/>
          </a:p>
        </p:txBody>
      </p:sp>
      <p:sp>
        <p:nvSpPr>
          <p:cNvPr id="4" name="Text 2"/>
          <p:cNvSpPr txBox="1"/>
          <p:nvPr/>
        </p:nvSpPr>
        <p:spPr>
          <a:xfrm>
            <a:off x="548640" y="4206240"/>
            <a:ext cx="8046720" cy="457200"/>
          </a:xfrm>
          <a:prstGeom prst="rect">
            <a:avLst/>
          </a:prstGeom>
          <a:noFill/>
          <a:ln/>
        </p:spPr>
        <p:txBody>
          <a:bodyPr wrap="square" lIns="0" tIns="0" rIns="0" bIns="0"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Thank you · Questions?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Sightector v2 - Obfuscation-robust harassment detection</dc:title>
  <dc:subject>PptxGenJS Presentation</dc:subject>
  <dc:creator>IEEE ENIT SIGHT Group</dc:creator>
  <cp:lastModifiedBy>IEEE ENIT SIGHT Group</cp:lastModifiedBy>
  <cp:revision>1</cp:revision>
  <dcterms:created xsi:type="dcterms:W3CDTF">2026-10-27T00:08:54Z</dcterms:created>
  <dcterms:modified xsi:type="dcterms:W3CDTF">2026-10-27T00:08:54Z</dcterms:modified>
</cp:coreProperties>
</file>